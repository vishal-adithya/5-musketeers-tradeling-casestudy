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(35 seconds). GulfTrade is a proposed software venture built from a fictional UAE distributor case study, not an operating distributor presented as a funded company. The product makes fragmented inventory decisions visible, economically accountable and reviewable. Introduce the three-location example; these are synthetic SKU01 available-stock values, not customer traction.
EVIDENCE AND CLAIM STATUS
Current data/inventory.csv: SKU01 Dubai 500, Abu Dhabi 100, Sharjah 300. Branding is the project concept. No commercial traction, team credentials or fundraising terms have been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(40 seconds). Walk through the three decision failures, not a broad unsourced market claim. These patterns are deliberately represented in the synthetic pack. The commercial hypothesis is that a planner will pay for an auditable, repeatable workflow that connects these decisions.
EVIDENCE AND CLAIM STATUS
data/README.md; make_data.py; engine/quality.py; engine/optimizer.py. The problem frequency and willingness to pay have not been validated with real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and market (45 seconds). We deliberately start with a narrow buyer and operational job. This is a go-to-market hypothesis, not market research or an existing customer list. There is no externally validated TAM, SAM, SOM or competitor market-share estimate in this deck. A first commercial milestone is to enumerate reachable accounts and test willingness to pay.
EVIDENCE AND CLAIM STATUS
Proposed strategy derived from the case-study domain. No market sizing, buyer interviews or account pipeline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(50 seconds). This is a workflow diagram of the implemented seven-tab application, not a fabricated customer screenshot. Explain that calculations run without a model API key. The optional assistant retrieves typed tool evidence; it does not invent quantities or execute transactions. Corrections remain session-local and approvals are local intent logs. Offer to switch to the live demo after the pitch.
EVIDENCE AND CLAIM STATUS
app.py; agent/assistant.py; agent/approval.py; engine/state.py. SQL is a derived read model; the current planning app reads the canonical CSV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(60 seconds). Dubai has 500 available; Abu Dhabi has 100. Present all three forecast values as ranges, not just P50. The current implementation proposes 234 units from Dubai to Abu Dhabi at two days lead and AED 171.80 cost. It accounts for a 20-unit source buffer and a 40-unit Abu Dhabi inbound receipt on day 5. This is the CURRENT seed-42 app result, not the original drafting request for 150–180 units. It is synthetic and has not been executed. Do not generalize this one example into customer traction.
EVIDENCE AND CLAIM STATUS
Computed with run_pipeline(load_data()), scenario None, on 27 October 2026. SKU01 fitted forecasts: Dubai 175.459260 / 191.5 / 207.540740; Abu Dhabi 334.208460 / 353.056439 / 371.904419; Sharjah 147.498683 / 159.75 / 172.001317. Current source dates differ from the earlier database draft; this deck consistently uses the current app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(50 seconds). The model reduces projected network shortage from 452.16 to 96.50 units, or 78.7 percent, assuming every proposal occurs. Net benefit is AED 5,911.64 after AED 370.30 in transfer costs. Avoided lost-sales margin is the main modeled driver. This is NOT revenue, ARR, booked savings or a proven ROI. Do not annualise this tiny synthetic network or compare the raw-demand baseline to the cleaned forecast as if that difference were causal. Ageing exposure is unchanged in this run, so do not claim an ageing improvement.
EVIDENCE AND CLAIM STATUS
eval_report.md rows Before and After. Percentage calculated as (452.16 - 96.50) / 452.16 × 100. Both rows use the same cleaned P50 demand. FEFO, constant margin, execution friction excluded and all-proposal execution are modeling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(45 seconds). One SKU05 candidate in the current test pack offers AED 19.06 expected benefit but costs AED 231.80, so the system rejects it. These are deliberately planted synthetic values, not customer economics. Emphasise specificity: component events require an explicit whitelist; shipping also requires route matching. The current approval log is not enterprise access control, and governance still needs production work.
EVIDENCE AND CLAIM STATUS
eval_report.md, uneconomic case; engine/scenarios.py; agent/approval.py. Negative net is 19.06 - 231.80 = -212.74. No claim of patented, unique or independently benchmarked differentiation.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(40 seconds). This is a recommended initial model for investor discussion. No pricing, contracts, recurring revenue or margins are evidenced by the repository. Test price against attributable realized benefit and integration/support costs. There is no success fee on synthetic savings. Avoid an ARR forecast until account conversion and retention assumptions are supported.
EVIDENCE AND CLAIM STATUS
Commercial hypothesis proposed for this presentation. No supplied revenue, pricing research, signed pilot or customer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(40 seconds). Alternatives include manual spreadsheets, existing ERP reports and dedicated planning software. This deck does not present an unresearched competitor feature matrix or claim that competitors cannot perform these tasks. GulfTrade aims to differentiate with a focused combination of evidence and economically feasible network decisions. Future data mappings and outcome history could create retention value, but this is not an existing moat. Production integrations and feedback loops are roadmap, not current capability.
EVIDENCE AND CLAIM STATUS
app.py; engine/optimizer.py; build_sqlite.py; SUPPORT_NOTE.md. Positioning and potential defensibility are hypotheses, not verified competitive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market (45 seconds). Three design partners is a proposed target, not a signed pipeline. Begin with direct introductions to distribution operators. Agree a baseline and success criteria before offering a paid pilot. Track time-to-first-plan, planner acceptance, exceptions, data reconciliation and measured contribution net of execution costs. A future channel route could involve ERP implementers once onboarding is repeatable; no partner agreements are claimed.
EVIDENCE AND CLAIM STATUS
Proposed go-to-market strategy. Repository contains synthetic inputs only, not customer pipeline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Pilot roadmap (45 seconds). These are proposed milestones, not delivery commitments or work already completed. Production needs include authenticated roles, durable audit/correction storage, scoped ERP access, observability, forecast calibration and capacity constraints. Agree metric thresholds with the partner rather than fabricate target savings. Assign accountable product, data-engineering and distributor-operations owners before work starts; no team bios or staffing claims were supplied.
EVIDENCE AND CLAIM STATUS
SUPPORT_NOTE.md; eval_report.md limitations. Timeline, resourcing and gates are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(40 seconds). Ask for a follow-up pilot-scoping conversation and introductions to relevant operators. Capital is sought conceptually to reach commercial proof, but no amount, valuation, terms, use-of-funds percentages or runway are asserted. The founders must supply their names, roles, track record, contact details and approved financing terms before using this as a formal fundraising offer. The project name originated with a fictional case study. Do not imply that GulfTrade is an incorporated or operating business.
EVIDENCE AND CLAIM STATUS
Proposed investor call to action. No fundraising amount, founder bios, contact details or financing terms were provided.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Diligence appendix. The software test run passed 49 tests; one third-party LangChain pending-deprecation warning was present. The 30 evaluation checks are deterministic planted cases, not independent customer outcomes. Fixed training is 60 days with a 30-day holdout. WAPE means sum of absolute errors divided by total actual demand, so lower is better. The model has slightly better 30-day aggregate WAPE but worse daily WAPE. Approximate 80-percent intervals cover only 56.67 percent of held-out totals. This makes calibration and repeated real-data evaluation an explicit pilot gate, not an optional improvement.
EVIDENCE AND CLAIM STATUS
eval_report.md metrics, nominal coverage and limitations; full pytest output from prior UI verification: 49 passed, 1 warning. No live provider accuracy, customer ROI or production-readiness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appendix. All product and model assertions come from the current repository and tool-verified runtime. The canonical pack currently runs from 29 July through 26 October 2026, with forecast 27 October through 25 November. Sales contain 5,292 observed records and 108 omitted grid dates. Available inventory is net of reservations; it is not the same as on-hand. GulfTrade here is a product concept developed from a fictional distributor case. Existing market size, pilots, revenue, customer logos, team backgrounds, incorporation and fundraising terms have not been supplied and must not be invented. Rebuild the source with npm install then npm run build inside presentations. The PowerPoint is editable and includes these notes; the PDF is the shareable slide-only version.
EVIDENCE AND CLAIM STATUS
Internal sources: README.md, data/README.md, app.py, make_data.py, evaluate.py, eval_report.md, engine/, agent/, tests/, SUPPORT_NOTE.md. No external market statistics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032"/>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65D9BE"/>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A9C1CC"/>
                </a:solidFill>
                <a:latin typeface="Avenir Next" pitchFamily="34" charset="0"/>
                <a:ea typeface="Avenir Next" pitchFamily="34" charset="-122"/>
                <a:cs typeface="Avenir Next" pitchFamily="34" charset="-120"/>
              </a:rPr>
              <a:t>INVESTOR INTRODUCTION</a:t>
            </a:r>
            <a:endParaRPr lang="en-US" sz="1050" dirty="0"/>
          </a:p>
        </p:txBody>
      </p:sp>
      <p:sp>
        <p:nvSpPr>
          <p:cNvPr id="4" name="Text 2"/>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A9C1CC"/>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5" name="Text 3"/>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65D9BE"/>
                </a:solidFill>
                <a:latin typeface="Avenir Next" pitchFamily="34" charset="0"/>
                <a:ea typeface="Avenir Next" pitchFamily="34" charset="-122"/>
                <a:cs typeface="Avenir Next" pitchFamily="34" charset="-120"/>
              </a:rPr>
              <a:t>01</a:t>
            </a:r>
            <a:endParaRPr lang="en-US" sz="1100" dirty="0"/>
          </a:p>
        </p:txBody>
      </p:sp>
      <p:sp>
        <p:nvSpPr>
          <p:cNvPr id="6" name="Shape 4"/>
          <p:cNvSpPr/>
          <p:nvPr/>
        </p:nvSpPr>
        <p:spPr>
          <a:xfrm>
            <a:off x="594360" y="1161288"/>
            <a:ext cx="2761488" cy="310896"/>
          </a:xfrm>
          <a:prstGeom prst="roundRect">
            <a:avLst>
              <a:gd name="adj" fmla="val 35294"/>
            </a:avLst>
          </a:prstGeom>
          <a:solidFill>
            <a:srgbClr val="18463F"/>
          </a:solidFill>
          <a:ln w="12700">
            <a:solidFill>
              <a:srgbClr val="18463F"/>
            </a:solidFill>
            <a:prstDash val="solid"/>
          </a:ln>
        </p:spPr>
      </p:sp>
      <p:sp>
        <p:nvSpPr>
          <p:cNvPr id="7" name="Text 5"/>
          <p:cNvSpPr/>
          <p:nvPr/>
        </p:nvSpPr>
        <p:spPr>
          <a:xfrm>
            <a:off x="704088" y="1161288"/>
            <a:ext cx="2542032" cy="310896"/>
          </a:xfrm>
          <a:prstGeom prst="rect">
            <a:avLst/>
          </a:prstGeom>
          <a:noFill/>
          <a:ln/>
        </p:spPr>
        <p:txBody>
          <a:bodyPr wrap="square" lIns="0" tIns="0" rIns="0" bIns="0" rtlCol="0" anchor="ctr"/>
          <a:lstStyle/>
          <a:p>
            <a:pPr indent="0" marL="0">
              <a:buNone/>
            </a:pPr>
            <a:r>
              <a:rPr lang="en-US" sz="1050" b="1" dirty="0">
                <a:solidFill>
                  <a:srgbClr val="65D9BE"/>
                </a:solidFill>
                <a:latin typeface="Avenir Next" pitchFamily="34" charset="0"/>
                <a:ea typeface="Avenir Next" pitchFamily="34" charset="-122"/>
                <a:cs typeface="Avenir Next" pitchFamily="34" charset="-120"/>
              </a:rPr>
              <a:t>PROTOTYPE VENTURE CONCEPT</a:t>
            </a:r>
            <a:endParaRPr lang="en-US" sz="1050" dirty="0"/>
          </a:p>
        </p:txBody>
      </p:sp>
      <p:sp>
        <p:nvSpPr>
          <p:cNvPr id="8" name="Text 6"/>
          <p:cNvSpPr/>
          <p:nvPr/>
        </p:nvSpPr>
        <p:spPr>
          <a:xfrm>
            <a:off x="594360" y="1746504"/>
            <a:ext cx="6400800" cy="2331720"/>
          </a:xfrm>
          <a:prstGeom prst="rect">
            <a:avLst/>
          </a:prstGeom>
          <a:noFill/>
          <a:ln/>
        </p:spPr>
        <p:txBody>
          <a:bodyPr wrap="square" lIns="0" tIns="0" rIns="0" bIns="0" rtlCol="0" anchor="t"/>
          <a:lstStyle/>
          <a:p>
            <a:pPr indent="0" marL="0">
              <a:buNone/>
            </a:pPr>
            <a:r>
              <a:rPr lang="en-US" sz="4900" b="1" dirty="0">
                <a:solidFill>
                  <a:srgbClr val="FFFFFF"/>
                </a:solidFill>
                <a:latin typeface="Avenir Next" pitchFamily="34" charset="0"/>
                <a:ea typeface="Avenir Next" pitchFamily="34" charset="-122"/>
                <a:cs typeface="Avenir Next" pitchFamily="34" charset="-120"/>
              </a:rPr>
              <a:t>Make existing</a:t>
            </a:r>
            <a:endParaRPr lang="en-US" sz="4900" dirty="0"/>
          </a:p>
          <a:p>
            <a:pPr indent="0" marL="0">
              <a:buNone/>
            </a:pPr>
            <a:r>
              <a:rPr lang="en-US" sz="4900" b="1" dirty="0">
                <a:solidFill>
                  <a:srgbClr val="FFFFFF"/>
                </a:solidFill>
                <a:latin typeface="Avenir Next" pitchFamily="34" charset="0"/>
                <a:ea typeface="Avenir Next" pitchFamily="34" charset="-122"/>
                <a:cs typeface="Avenir Next" pitchFamily="34" charset="-120"/>
              </a:rPr>
              <a:t>stock work</a:t>
            </a:r>
            <a:endParaRPr lang="en-US" sz="4900" dirty="0"/>
          </a:p>
          <a:p>
            <a:pPr indent="0" marL="0">
              <a:buNone/>
            </a:pPr>
            <a:r>
              <a:rPr lang="en-US" sz="4900" b="1" dirty="0">
                <a:solidFill>
                  <a:srgbClr val="FFFFFF"/>
                </a:solidFill>
                <a:latin typeface="Avenir Next" pitchFamily="34" charset="0"/>
                <a:ea typeface="Avenir Next" pitchFamily="34" charset="-122"/>
                <a:cs typeface="Avenir Next" pitchFamily="34" charset="-120"/>
              </a:rPr>
              <a:t>harder.</a:t>
            </a:r>
            <a:endParaRPr lang="en-US" sz="4900" dirty="0"/>
          </a:p>
        </p:txBody>
      </p:sp>
      <p:sp>
        <p:nvSpPr>
          <p:cNvPr id="9" name="Text 7"/>
          <p:cNvSpPr/>
          <p:nvPr/>
        </p:nvSpPr>
        <p:spPr>
          <a:xfrm>
            <a:off x="621792" y="4425696"/>
            <a:ext cx="6035040" cy="521208"/>
          </a:xfrm>
          <a:prstGeom prst="rect">
            <a:avLst/>
          </a:prstGeom>
          <a:noFill/>
          <a:ln/>
        </p:spPr>
        <p:txBody>
          <a:bodyPr wrap="square" lIns="0" tIns="0" rIns="0" bIns="0" rtlCol="0" anchor="ctr"/>
          <a:lstStyle/>
          <a:p>
            <a:pPr indent="0" marL="0">
              <a:buNone/>
            </a:pPr>
            <a:r>
              <a:rPr lang="en-US" sz="2300" b="1" dirty="0">
                <a:solidFill>
                  <a:srgbClr val="65D9BE"/>
                </a:solidFill>
                <a:latin typeface="Avenir Next" pitchFamily="34" charset="0"/>
                <a:ea typeface="Avenir Next" pitchFamily="34" charset="-122"/>
                <a:cs typeface="Avenir Next" pitchFamily="34" charset="-120"/>
              </a:rPr>
              <a:t>Decision intelligence for B2B distributors.</a:t>
            </a:r>
            <a:endParaRPr lang="en-US" sz="2300" dirty="0"/>
          </a:p>
        </p:txBody>
      </p:sp>
      <p:sp>
        <p:nvSpPr>
          <p:cNvPr id="10" name="Text 8"/>
          <p:cNvSpPr/>
          <p:nvPr/>
        </p:nvSpPr>
        <p:spPr>
          <a:xfrm>
            <a:off x="621792" y="5148072"/>
            <a:ext cx="5943600" cy="777240"/>
          </a:xfrm>
          <a:prstGeom prst="rect">
            <a:avLst/>
          </a:prstGeom>
          <a:noFill/>
          <a:ln/>
        </p:spPr>
        <p:txBody>
          <a:bodyPr wrap="square" lIns="0" tIns="0" rIns="0" bIns="0" rtlCol="0" anchor="ctr"/>
          <a:lstStyle/>
          <a:p>
            <a:pPr indent="0" marL="0">
              <a:buNone/>
            </a:pPr>
            <a:r>
              <a:rPr lang="en-US" sz="1800" dirty="0">
                <a:solidFill>
                  <a:srgbClr val="A9C1CC"/>
                </a:solidFill>
                <a:latin typeface="Avenir Next" pitchFamily="34" charset="0"/>
                <a:ea typeface="Avenir Next" pitchFamily="34" charset="-122"/>
                <a:cs typeface="Avenir Next" pitchFamily="34" charset="-120"/>
              </a:rPr>
              <a:t>Spot misplaced inventory. Compare the economics.</a:t>
            </a:r>
            <a:endParaRPr lang="en-US" sz="1800" dirty="0"/>
          </a:p>
          <a:p>
            <a:pPr indent="0" marL="0">
              <a:buNone/>
            </a:pPr>
            <a:r>
              <a:rPr lang="en-US" sz="1800" dirty="0">
                <a:solidFill>
                  <a:srgbClr val="A9C1CC"/>
                </a:solidFill>
                <a:latin typeface="Avenir Next" pitchFamily="34" charset="0"/>
                <a:ea typeface="Avenir Next" pitchFamily="34" charset="-122"/>
                <a:cs typeface="Avenir Next" pitchFamily="34" charset="-120"/>
              </a:rPr>
              <a:t>Keep every decision in human hands.</a:t>
            </a:r>
            <a:endParaRPr lang="en-US" sz="1800" dirty="0"/>
          </a:p>
        </p:txBody>
      </p:sp>
      <p:sp>
        <p:nvSpPr>
          <p:cNvPr id="11" name="Shape 9"/>
          <p:cNvSpPr/>
          <p:nvPr/>
        </p:nvSpPr>
        <p:spPr>
          <a:xfrm>
            <a:off x="7461504" y="1508760"/>
            <a:ext cx="4142232" cy="4526280"/>
          </a:xfrm>
          <a:prstGeom prst="roundRect">
            <a:avLst>
              <a:gd name="adj" fmla="val 2649"/>
            </a:avLst>
          </a:prstGeom>
          <a:solidFill>
            <a:srgbClr val="123349"/>
          </a:solidFill>
          <a:ln w="12700">
            <a:solidFill>
              <a:srgbClr val="123349"/>
            </a:solidFill>
            <a:prstDash val="solid"/>
          </a:ln>
        </p:spPr>
      </p:sp>
      <p:sp>
        <p:nvSpPr>
          <p:cNvPr id="12" name="Text 10"/>
          <p:cNvSpPr/>
          <p:nvPr/>
        </p:nvSpPr>
        <p:spPr>
          <a:xfrm>
            <a:off x="7754112" y="1801368"/>
            <a:ext cx="3520440" cy="365760"/>
          </a:xfrm>
          <a:prstGeom prst="rect">
            <a:avLst/>
          </a:prstGeom>
          <a:noFill/>
          <a:ln/>
        </p:spPr>
        <p:txBody>
          <a:bodyPr wrap="square" lIns="0" tIns="0" rIns="0" bIns="0" rtlCol="0" anchor="ctr"/>
          <a:lstStyle/>
          <a:p>
            <a:pPr indent="0" marL="0">
              <a:buNone/>
            </a:pPr>
            <a:r>
              <a:rPr lang="en-US" sz="1150" b="1" dirty="0">
                <a:solidFill>
                  <a:srgbClr val="65D9BE"/>
                </a:solidFill>
                <a:latin typeface="Avenir Next" pitchFamily="34" charset="0"/>
                <a:ea typeface="Avenir Next" pitchFamily="34" charset="-122"/>
                <a:cs typeface="Avenir Next" pitchFamily="34" charset="-120"/>
              </a:rPr>
              <a:t>ONE NETWORK. BETTER DECISIONS.</a:t>
            </a:r>
            <a:endParaRPr lang="en-US" sz="1150" dirty="0"/>
          </a:p>
        </p:txBody>
      </p:sp>
      <p:sp>
        <p:nvSpPr>
          <p:cNvPr id="13" name="Shape 11"/>
          <p:cNvSpPr/>
          <p:nvPr/>
        </p:nvSpPr>
        <p:spPr>
          <a:xfrm>
            <a:off x="7955280" y="2926080"/>
            <a:ext cx="0" cy="2084832"/>
          </a:xfrm>
          <a:prstGeom prst="line">
            <a:avLst/>
          </a:prstGeom>
          <a:noFill/>
          <a:ln w="31750">
            <a:solidFill>
              <a:srgbClr val="65D9BE"/>
            </a:solidFill>
            <a:prstDash val="solid"/>
          </a:ln>
        </p:spPr>
      </p:sp>
      <p:sp>
        <p:nvSpPr>
          <p:cNvPr id="14" name="Shape 12"/>
          <p:cNvSpPr/>
          <p:nvPr/>
        </p:nvSpPr>
        <p:spPr>
          <a:xfrm>
            <a:off x="7818120" y="2715768"/>
            <a:ext cx="274320" cy="274320"/>
          </a:xfrm>
          <a:prstGeom prst="ellipse">
            <a:avLst/>
          </a:prstGeom>
          <a:solidFill>
            <a:srgbClr val="65D9BE"/>
          </a:solidFill>
          <a:ln w="12700">
            <a:solidFill>
              <a:srgbClr val="65D9BE"/>
            </a:solidFill>
            <a:prstDash val="solid"/>
          </a:ln>
        </p:spPr>
      </p:sp>
      <p:sp>
        <p:nvSpPr>
          <p:cNvPr id="15" name="Text 13"/>
          <p:cNvSpPr/>
          <p:nvPr/>
        </p:nvSpPr>
        <p:spPr>
          <a:xfrm>
            <a:off x="8330184" y="2459736"/>
            <a:ext cx="2651760" cy="246888"/>
          </a:xfrm>
          <a:prstGeom prst="rect">
            <a:avLst/>
          </a:prstGeom>
          <a:noFill/>
          <a:ln/>
        </p:spPr>
        <p:txBody>
          <a:bodyPr wrap="square" lIns="0" tIns="0" rIns="0" bIns="0" rtlCol="0" anchor="ctr"/>
          <a:lstStyle/>
          <a:p>
            <a:pPr indent="0" marL="0">
              <a:buNone/>
            </a:pPr>
            <a:r>
              <a:rPr lang="en-US" sz="1050" b="1" spc="140" kern="0" dirty="0">
                <a:solidFill>
                  <a:srgbClr val="A9C1CC"/>
                </a:solidFill>
                <a:latin typeface="Avenir Next" pitchFamily="34" charset="0"/>
                <a:ea typeface="Avenir Next" pitchFamily="34" charset="-122"/>
                <a:cs typeface="Avenir Next" pitchFamily="34" charset="-120"/>
              </a:rPr>
              <a:t>DUBAI</a:t>
            </a:r>
            <a:endParaRPr lang="en-US" sz="1050" dirty="0"/>
          </a:p>
        </p:txBody>
      </p:sp>
      <p:sp>
        <p:nvSpPr>
          <p:cNvPr id="16" name="Text 14"/>
          <p:cNvSpPr/>
          <p:nvPr/>
        </p:nvSpPr>
        <p:spPr>
          <a:xfrm>
            <a:off x="8302752" y="2734056"/>
            <a:ext cx="987552" cy="457200"/>
          </a:xfrm>
          <a:prstGeom prst="rect">
            <a:avLst/>
          </a:prstGeom>
          <a:noFill/>
          <a:ln/>
        </p:spPr>
        <p:txBody>
          <a:bodyPr wrap="square" lIns="0" tIns="0" rIns="0" bIns="0" rtlCol="0" anchor="ctr"/>
          <a:lstStyle/>
          <a:p>
            <a:pPr indent="0" marL="0">
              <a:buNone/>
            </a:pPr>
            <a:r>
              <a:rPr lang="en-US" sz="3000" b="1" dirty="0">
                <a:solidFill>
                  <a:srgbClr val="FFFFFF"/>
                </a:solidFill>
                <a:latin typeface="Avenir Next" pitchFamily="34" charset="0"/>
                <a:ea typeface="Avenir Next" pitchFamily="34" charset="-122"/>
                <a:cs typeface="Avenir Next" pitchFamily="34" charset="-120"/>
              </a:rPr>
              <a:t>500</a:t>
            </a:r>
            <a:endParaRPr lang="en-US" sz="3000" dirty="0"/>
          </a:p>
        </p:txBody>
      </p:sp>
      <p:sp>
        <p:nvSpPr>
          <p:cNvPr id="17" name="Text 15"/>
          <p:cNvSpPr/>
          <p:nvPr/>
        </p:nvSpPr>
        <p:spPr>
          <a:xfrm>
            <a:off x="9509760" y="2852928"/>
            <a:ext cx="1627632" cy="219456"/>
          </a:xfrm>
          <a:prstGeom prst="rect">
            <a:avLst/>
          </a:prstGeom>
          <a:noFill/>
          <a:ln/>
        </p:spPr>
        <p:txBody>
          <a:bodyPr wrap="square" lIns="0" tIns="0" rIns="0" bIns="0" rtlCol="0" anchor="ctr"/>
          <a:lstStyle/>
          <a:p>
            <a:pPr indent="0" marL="0">
              <a:buNone/>
            </a:pPr>
            <a:r>
              <a:rPr lang="en-US" sz="1100" dirty="0">
                <a:solidFill>
                  <a:srgbClr val="A9C1CC"/>
                </a:solidFill>
                <a:latin typeface="Avenir Next" pitchFamily="34" charset="0"/>
                <a:ea typeface="Avenir Next" pitchFamily="34" charset="-122"/>
                <a:cs typeface="Avenir Next" pitchFamily="34" charset="-120"/>
              </a:rPr>
              <a:t>available units</a:t>
            </a:r>
            <a:endParaRPr lang="en-US" sz="1100" dirty="0"/>
          </a:p>
        </p:txBody>
      </p:sp>
      <p:sp>
        <p:nvSpPr>
          <p:cNvPr id="18" name="Shape 16"/>
          <p:cNvSpPr/>
          <p:nvPr/>
        </p:nvSpPr>
        <p:spPr>
          <a:xfrm>
            <a:off x="7818120" y="3831336"/>
            <a:ext cx="274320" cy="274320"/>
          </a:xfrm>
          <a:prstGeom prst="ellipse">
            <a:avLst/>
          </a:prstGeom>
          <a:solidFill>
            <a:srgbClr val="65D9BE"/>
          </a:solidFill>
          <a:ln w="12700">
            <a:solidFill>
              <a:srgbClr val="65D9BE"/>
            </a:solidFill>
            <a:prstDash val="solid"/>
          </a:ln>
        </p:spPr>
      </p:sp>
      <p:sp>
        <p:nvSpPr>
          <p:cNvPr id="19" name="Text 17"/>
          <p:cNvSpPr/>
          <p:nvPr/>
        </p:nvSpPr>
        <p:spPr>
          <a:xfrm>
            <a:off x="8330184" y="3575304"/>
            <a:ext cx="2651760" cy="246888"/>
          </a:xfrm>
          <a:prstGeom prst="rect">
            <a:avLst/>
          </a:prstGeom>
          <a:noFill/>
          <a:ln/>
        </p:spPr>
        <p:txBody>
          <a:bodyPr wrap="square" lIns="0" tIns="0" rIns="0" bIns="0" rtlCol="0" anchor="ctr"/>
          <a:lstStyle/>
          <a:p>
            <a:pPr indent="0" marL="0">
              <a:buNone/>
            </a:pPr>
            <a:r>
              <a:rPr lang="en-US" sz="1050" b="1" spc="140" kern="0" dirty="0">
                <a:solidFill>
                  <a:srgbClr val="A9C1CC"/>
                </a:solidFill>
                <a:latin typeface="Avenir Next" pitchFamily="34" charset="0"/>
                <a:ea typeface="Avenir Next" pitchFamily="34" charset="-122"/>
                <a:cs typeface="Avenir Next" pitchFamily="34" charset="-120"/>
              </a:rPr>
              <a:t>ABU DHABI</a:t>
            </a:r>
            <a:endParaRPr lang="en-US" sz="1050" dirty="0"/>
          </a:p>
        </p:txBody>
      </p:sp>
      <p:sp>
        <p:nvSpPr>
          <p:cNvPr id="20" name="Text 18"/>
          <p:cNvSpPr/>
          <p:nvPr/>
        </p:nvSpPr>
        <p:spPr>
          <a:xfrm>
            <a:off x="8302752" y="3849624"/>
            <a:ext cx="987552" cy="457200"/>
          </a:xfrm>
          <a:prstGeom prst="rect">
            <a:avLst/>
          </a:prstGeom>
          <a:noFill/>
          <a:ln/>
        </p:spPr>
        <p:txBody>
          <a:bodyPr wrap="square" lIns="0" tIns="0" rIns="0" bIns="0" rtlCol="0" anchor="ctr"/>
          <a:lstStyle/>
          <a:p>
            <a:pPr indent="0" marL="0">
              <a:buNone/>
            </a:pPr>
            <a:r>
              <a:rPr lang="en-US" sz="3000" b="1" dirty="0">
                <a:solidFill>
                  <a:srgbClr val="FFFFFF"/>
                </a:solidFill>
                <a:latin typeface="Avenir Next" pitchFamily="34" charset="0"/>
                <a:ea typeface="Avenir Next" pitchFamily="34" charset="-122"/>
                <a:cs typeface="Avenir Next" pitchFamily="34" charset="-120"/>
              </a:rPr>
              <a:t>100</a:t>
            </a:r>
            <a:endParaRPr lang="en-US" sz="3000" dirty="0"/>
          </a:p>
        </p:txBody>
      </p:sp>
      <p:sp>
        <p:nvSpPr>
          <p:cNvPr id="21" name="Text 19"/>
          <p:cNvSpPr/>
          <p:nvPr/>
        </p:nvSpPr>
        <p:spPr>
          <a:xfrm>
            <a:off x="9509760" y="3968496"/>
            <a:ext cx="1627632" cy="219456"/>
          </a:xfrm>
          <a:prstGeom prst="rect">
            <a:avLst/>
          </a:prstGeom>
          <a:noFill/>
          <a:ln/>
        </p:spPr>
        <p:txBody>
          <a:bodyPr wrap="square" lIns="0" tIns="0" rIns="0" bIns="0" rtlCol="0" anchor="ctr"/>
          <a:lstStyle/>
          <a:p>
            <a:pPr indent="0" marL="0">
              <a:buNone/>
            </a:pPr>
            <a:r>
              <a:rPr lang="en-US" sz="1100" dirty="0">
                <a:solidFill>
                  <a:srgbClr val="A9C1CC"/>
                </a:solidFill>
                <a:latin typeface="Avenir Next" pitchFamily="34" charset="0"/>
                <a:ea typeface="Avenir Next" pitchFamily="34" charset="-122"/>
                <a:cs typeface="Avenir Next" pitchFamily="34" charset="-120"/>
              </a:rPr>
              <a:t>available units</a:t>
            </a:r>
            <a:endParaRPr lang="en-US" sz="1100" dirty="0"/>
          </a:p>
        </p:txBody>
      </p:sp>
      <p:sp>
        <p:nvSpPr>
          <p:cNvPr id="22" name="Shape 20"/>
          <p:cNvSpPr/>
          <p:nvPr/>
        </p:nvSpPr>
        <p:spPr>
          <a:xfrm>
            <a:off x="7818120" y="4946904"/>
            <a:ext cx="274320" cy="274320"/>
          </a:xfrm>
          <a:prstGeom prst="ellipse">
            <a:avLst/>
          </a:prstGeom>
          <a:solidFill>
            <a:srgbClr val="65D9BE"/>
          </a:solidFill>
          <a:ln w="12700">
            <a:solidFill>
              <a:srgbClr val="65D9BE"/>
            </a:solidFill>
            <a:prstDash val="solid"/>
          </a:ln>
        </p:spPr>
      </p:sp>
      <p:sp>
        <p:nvSpPr>
          <p:cNvPr id="23" name="Text 21"/>
          <p:cNvSpPr/>
          <p:nvPr/>
        </p:nvSpPr>
        <p:spPr>
          <a:xfrm>
            <a:off x="8330184" y="4690872"/>
            <a:ext cx="2651760" cy="246888"/>
          </a:xfrm>
          <a:prstGeom prst="rect">
            <a:avLst/>
          </a:prstGeom>
          <a:noFill/>
          <a:ln/>
        </p:spPr>
        <p:txBody>
          <a:bodyPr wrap="square" lIns="0" tIns="0" rIns="0" bIns="0" rtlCol="0" anchor="ctr"/>
          <a:lstStyle/>
          <a:p>
            <a:pPr indent="0" marL="0">
              <a:buNone/>
            </a:pPr>
            <a:r>
              <a:rPr lang="en-US" sz="1050" b="1" spc="140" kern="0" dirty="0">
                <a:solidFill>
                  <a:srgbClr val="A9C1CC"/>
                </a:solidFill>
                <a:latin typeface="Avenir Next" pitchFamily="34" charset="0"/>
                <a:ea typeface="Avenir Next" pitchFamily="34" charset="-122"/>
                <a:cs typeface="Avenir Next" pitchFamily="34" charset="-120"/>
              </a:rPr>
              <a:t>SHARJAH</a:t>
            </a:r>
            <a:endParaRPr lang="en-US" sz="1050" dirty="0"/>
          </a:p>
        </p:txBody>
      </p:sp>
      <p:sp>
        <p:nvSpPr>
          <p:cNvPr id="24" name="Text 22"/>
          <p:cNvSpPr/>
          <p:nvPr/>
        </p:nvSpPr>
        <p:spPr>
          <a:xfrm>
            <a:off x="8302752" y="4965192"/>
            <a:ext cx="987552" cy="457200"/>
          </a:xfrm>
          <a:prstGeom prst="rect">
            <a:avLst/>
          </a:prstGeom>
          <a:noFill/>
          <a:ln/>
        </p:spPr>
        <p:txBody>
          <a:bodyPr wrap="square" lIns="0" tIns="0" rIns="0" bIns="0" rtlCol="0" anchor="ctr"/>
          <a:lstStyle/>
          <a:p>
            <a:pPr indent="0" marL="0">
              <a:buNone/>
            </a:pPr>
            <a:r>
              <a:rPr lang="en-US" sz="3000" b="1" dirty="0">
                <a:solidFill>
                  <a:srgbClr val="FFFFFF"/>
                </a:solidFill>
                <a:latin typeface="Avenir Next" pitchFamily="34" charset="0"/>
                <a:ea typeface="Avenir Next" pitchFamily="34" charset="-122"/>
                <a:cs typeface="Avenir Next" pitchFamily="34" charset="-120"/>
              </a:rPr>
              <a:t>300</a:t>
            </a:r>
            <a:endParaRPr lang="en-US" sz="3000" dirty="0"/>
          </a:p>
        </p:txBody>
      </p:sp>
      <p:sp>
        <p:nvSpPr>
          <p:cNvPr id="25" name="Text 23"/>
          <p:cNvSpPr/>
          <p:nvPr/>
        </p:nvSpPr>
        <p:spPr>
          <a:xfrm>
            <a:off x="9509760" y="5084064"/>
            <a:ext cx="1627632" cy="219456"/>
          </a:xfrm>
          <a:prstGeom prst="rect">
            <a:avLst/>
          </a:prstGeom>
          <a:noFill/>
          <a:ln/>
        </p:spPr>
        <p:txBody>
          <a:bodyPr wrap="square" lIns="0" tIns="0" rIns="0" bIns="0" rtlCol="0" anchor="ctr"/>
          <a:lstStyle/>
          <a:p>
            <a:pPr indent="0" marL="0">
              <a:buNone/>
            </a:pPr>
            <a:r>
              <a:rPr lang="en-US" sz="1100" dirty="0">
                <a:solidFill>
                  <a:srgbClr val="A9C1CC"/>
                </a:solidFill>
                <a:latin typeface="Avenir Next" pitchFamily="34" charset="0"/>
                <a:ea typeface="Avenir Next" pitchFamily="34" charset="-122"/>
                <a:cs typeface="Avenir Next" pitchFamily="34" charset="-120"/>
              </a:rPr>
              <a:t>available units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THE PROBLEM</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Stock can be plentiful. Availability can still fail.</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The planner needs a decision—not another disconnected spreadsheet.</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02</a:t>
            </a:r>
            <a:endParaRPr lang="en-US" sz="1100" dirty="0"/>
          </a:p>
        </p:txBody>
      </p:sp>
      <p:sp>
        <p:nvSpPr>
          <p:cNvPr id="8" name="Shape 6"/>
          <p:cNvSpPr/>
          <p:nvPr/>
        </p:nvSpPr>
        <p:spPr>
          <a:xfrm>
            <a:off x="594360" y="2724912"/>
            <a:ext cx="3502152" cy="3236976"/>
          </a:xfrm>
          <a:prstGeom prst="roundRect">
            <a:avLst>
              <a:gd name="adj" fmla="val 3390"/>
            </a:avLst>
          </a:prstGeom>
          <a:solidFill>
            <a:srgbClr val="FFFFFF"/>
          </a:solidFill>
          <a:ln w="12700">
            <a:solidFill>
              <a:srgbClr val="FFFFFF"/>
            </a:solidFill>
            <a:prstDash val="solid"/>
          </a:ln>
        </p:spPr>
      </p:sp>
      <p:sp>
        <p:nvSpPr>
          <p:cNvPr id="9" name="Shape 7"/>
          <p:cNvSpPr/>
          <p:nvPr/>
        </p:nvSpPr>
        <p:spPr>
          <a:xfrm>
            <a:off x="822960" y="2971800"/>
            <a:ext cx="420624" cy="420624"/>
          </a:xfrm>
          <a:prstGeom prst="ellipse">
            <a:avLst/>
          </a:prstGeom>
          <a:solidFill>
            <a:srgbClr val="007F78"/>
          </a:solidFill>
          <a:ln w="12700">
            <a:solidFill>
              <a:srgbClr val="007F78"/>
            </a:solidFill>
            <a:prstDash val="solid"/>
          </a:ln>
        </p:spPr>
      </p:sp>
      <p:sp>
        <p:nvSpPr>
          <p:cNvPr id="10" name="Text 8"/>
          <p:cNvSpPr/>
          <p:nvPr/>
        </p:nvSpPr>
        <p:spPr>
          <a:xfrm>
            <a:off x="822960"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01</a:t>
            </a:r>
            <a:endParaRPr lang="en-US" sz="1400" dirty="0"/>
          </a:p>
        </p:txBody>
      </p:sp>
      <p:sp>
        <p:nvSpPr>
          <p:cNvPr id="11" name="Text 9"/>
          <p:cNvSpPr/>
          <p:nvPr/>
        </p:nvSpPr>
        <p:spPr>
          <a:xfrm>
            <a:off x="822960"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Demand gets hidden</a:t>
            </a:r>
            <a:endParaRPr lang="en-US" sz="2200" dirty="0"/>
          </a:p>
        </p:txBody>
      </p:sp>
      <p:sp>
        <p:nvSpPr>
          <p:cNvPr id="12" name="Text 10"/>
          <p:cNvSpPr/>
          <p:nvPr/>
        </p:nvSpPr>
        <p:spPr>
          <a:xfrm>
            <a:off x="822960" y="4379976"/>
            <a:ext cx="3044952" cy="13716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Stockout zeros and missing sales rows can make an active market look quiet.</a:t>
            </a:r>
            <a:endParaRPr lang="en-US" sz="1600" dirty="0"/>
          </a:p>
        </p:txBody>
      </p:sp>
      <p:sp>
        <p:nvSpPr>
          <p:cNvPr id="13" name="Shape 11"/>
          <p:cNvSpPr/>
          <p:nvPr/>
        </p:nvSpPr>
        <p:spPr>
          <a:xfrm>
            <a:off x="4352544" y="2724912"/>
            <a:ext cx="3502152" cy="3236976"/>
          </a:xfrm>
          <a:prstGeom prst="roundRect">
            <a:avLst>
              <a:gd name="adj" fmla="val 3390"/>
            </a:avLst>
          </a:prstGeom>
          <a:solidFill>
            <a:srgbClr val="FFFFFF"/>
          </a:solidFill>
          <a:ln w="12700">
            <a:solidFill>
              <a:srgbClr val="FFFFFF"/>
            </a:solidFill>
            <a:prstDash val="solid"/>
          </a:ln>
        </p:spPr>
      </p:sp>
      <p:sp>
        <p:nvSpPr>
          <p:cNvPr id="14" name="Shape 12"/>
          <p:cNvSpPr/>
          <p:nvPr/>
        </p:nvSpPr>
        <p:spPr>
          <a:xfrm>
            <a:off x="4581144" y="2971800"/>
            <a:ext cx="420624" cy="420624"/>
          </a:xfrm>
          <a:prstGeom prst="ellipse">
            <a:avLst/>
          </a:prstGeom>
          <a:solidFill>
            <a:srgbClr val="007F78"/>
          </a:solidFill>
          <a:ln w="12700">
            <a:solidFill>
              <a:srgbClr val="007F78"/>
            </a:solidFill>
            <a:prstDash val="solid"/>
          </a:ln>
        </p:spPr>
      </p:sp>
      <p:sp>
        <p:nvSpPr>
          <p:cNvPr id="15" name="Text 13"/>
          <p:cNvSpPr/>
          <p:nvPr/>
        </p:nvSpPr>
        <p:spPr>
          <a:xfrm>
            <a:off x="4581144"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02</a:t>
            </a:r>
            <a:endParaRPr lang="en-US" sz="1400" dirty="0"/>
          </a:p>
        </p:txBody>
      </p:sp>
      <p:sp>
        <p:nvSpPr>
          <p:cNvPr id="16" name="Text 14"/>
          <p:cNvSpPr/>
          <p:nvPr/>
        </p:nvSpPr>
        <p:spPr>
          <a:xfrm>
            <a:off x="4581144"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Capital sits idle</a:t>
            </a:r>
            <a:endParaRPr lang="en-US" sz="2200" dirty="0"/>
          </a:p>
        </p:txBody>
      </p:sp>
      <p:sp>
        <p:nvSpPr>
          <p:cNvPr id="17" name="Text 15"/>
          <p:cNvSpPr/>
          <p:nvPr/>
        </p:nvSpPr>
        <p:spPr>
          <a:xfrm>
            <a:off x="4581144" y="4379976"/>
            <a:ext cx="3044952" cy="13716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One location carries ageing stock while another cannot meet demand.</a:t>
            </a:r>
            <a:endParaRPr lang="en-US" sz="1600" dirty="0"/>
          </a:p>
        </p:txBody>
      </p:sp>
      <p:sp>
        <p:nvSpPr>
          <p:cNvPr id="18" name="Shape 16"/>
          <p:cNvSpPr/>
          <p:nvPr/>
        </p:nvSpPr>
        <p:spPr>
          <a:xfrm>
            <a:off x="8101584" y="2724912"/>
            <a:ext cx="3502152" cy="3236976"/>
          </a:xfrm>
          <a:prstGeom prst="roundRect">
            <a:avLst>
              <a:gd name="adj" fmla="val 3390"/>
            </a:avLst>
          </a:prstGeom>
          <a:solidFill>
            <a:srgbClr val="FFFFFF"/>
          </a:solidFill>
          <a:ln w="12700">
            <a:solidFill>
              <a:srgbClr val="FFFFFF"/>
            </a:solidFill>
            <a:prstDash val="solid"/>
          </a:ln>
        </p:spPr>
      </p:sp>
      <p:sp>
        <p:nvSpPr>
          <p:cNvPr id="19" name="Shape 17"/>
          <p:cNvSpPr/>
          <p:nvPr/>
        </p:nvSpPr>
        <p:spPr>
          <a:xfrm>
            <a:off x="8330184" y="2971800"/>
            <a:ext cx="420624" cy="420624"/>
          </a:xfrm>
          <a:prstGeom prst="ellipse">
            <a:avLst/>
          </a:prstGeom>
          <a:solidFill>
            <a:srgbClr val="007F78"/>
          </a:solidFill>
          <a:ln w="12700">
            <a:solidFill>
              <a:srgbClr val="007F78"/>
            </a:solidFill>
            <a:prstDash val="solid"/>
          </a:ln>
        </p:spPr>
      </p:sp>
      <p:sp>
        <p:nvSpPr>
          <p:cNvPr id="20" name="Text 18"/>
          <p:cNvSpPr/>
          <p:nvPr/>
        </p:nvSpPr>
        <p:spPr>
          <a:xfrm>
            <a:off x="8330184"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03</a:t>
            </a:r>
            <a:endParaRPr lang="en-US" sz="1400" dirty="0"/>
          </a:p>
        </p:txBody>
      </p:sp>
      <p:sp>
        <p:nvSpPr>
          <p:cNvPr id="21" name="Text 19"/>
          <p:cNvSpPr/>
          <p:nvPr/>
        </p:nvSpPr>
        <p:spPr>
          <a:xfrm>
            <a:off x="8330184"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The cure can cost more</a:t>
            </a:r>
            <a:endParaRPr lang="en-US" sz="2200" dirty="0"/>
          </a:p>
        </p:txBody>
      </p:sp>
      <p:sp>
        <p:nvSpPr>
          <p:cNvPr id="22" name="Text 20"/>
          <p:cNvSpPr/>
          <p:nvPr/>
        </p:nvSpPr>
        <p:spPr>
          <a:xfrm>
            <a:off x="8330184" y="4379976"/>
            <a:ext cx="3044952" cy="13716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A rushed transfer may arrive late—or consume more margin than it saves.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CUSTOMER &amp; OPPORTUNITY</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Start with one urgent buyer.</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Proposed beachhead: multi-location UAE B2B electronics distributors.</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03</a:t>
            </a:r>
            <a:endParaRPr lang="en-US" sz="1100" dirty="0"/>
          </a:p>
        </p:txBody>
      </p:sp>
      <p:sp>
        <p:nvSpPr>
          <p:cNvPr id="8" name="Shape 6"/>
          <p:cNvSpPr/>
          <p:nvPr/>
        </p:nvSpPr>
        <p:spPr>
          <a:xfrm>
            <a:off x="594360" y="2706624"/>
            <a:ext cx="3831336" cy="3310128"/>
          </a:xfrm>
          <a:prstGeom prst="roundRect">
            <a:avLst>
              <a:gd name="adj" fmla="val 3315"/>
            </a:avLst>
          </a:prstGeom>
          <a:solidFill>
            <a:srgbClr val="102A43"/>
          </a:solidFill>
          <a:ln w="12700">
            <a:solidFill>
              <a:srgbClr val="102A43"/>
            </a:solidFill>
            <a:prstDash val="solid"/>
          </a:ln>
        </p:spPr>
      </p:sp>
      <p:sp>
        <p:nvSpPr>
          <p:cNvPr id="9" name="Text 7"/>
          <p:cNvSpPr/>
          <p:nvPr/>
        </p:nvSpPr>
        <p:spPr>
          <a:xfrm>
            <a:off x="859536" y="2953512"/>
            <a:ext cx="3255264" cy="228600"/>
          </a:xfrm>
          <a:prstGeom prst="rect">
            <a:avLst/>
          </a:prstGeom>
          <a:noFill/>
          <a:ln/>
        </p:spPr>
        <p:txBody>
          <a:bodyPr wrap="square" lIns="0" tIns="0" rIns="0" bIns="0" rtlCol="0" anchor="ctr"/>
          <a:lstStyle/>
          <a:p>
            <a:pPr indent="0" marL="0">
              <a:buNone/>
            </a:pPr>
            <a:r>
              <a:rPr lang="en-US" sz="1200" b="1" dirty="0">
                <a:solidFill>
                  <a:srgbClr val="65D9BE"/>
                </a:solidFill>
                <a:latin typeface="Avenir Next" pitchFamily="34" charset="0"/>
                <a:ea typeface="Avenir Next" pitchFamily="34" charset="-122"/>
                <a:cs typeface="Avenir Next" pitchFamily="34" charset="-120"/>
              </a:rPr>
              <a:t>THE BUYER</a:t>
            </a:r>
            <a:endParaRPr lang="en-US" sz="1200" dirty="0"/>
          </a:p>
        </p:txBody>
      </p:sp>
      <p:sp>
        <p:nvSpPr>
          <p:cNvPr id="10" name="Text 8"/>
          <p:cNvSpPr/>
          <p:nvPr/>
        </p:nvSpPr>
        <p:spPr>
          <a:xfrm>
            <a:off x="859536" y="3566160"/>
            <a:ext cx="3209544" cy="914400"/>
          </a:xfrm>
          <a:prstGeom prst="rect">
            <a:avLst/>
          </a:prstGeom>
          <a:noFill/>
          <a:ln/>
        </p:spPr>
        <p:txBody>
          <a:bodyPr wrap="square" lIns="0" tIns="0" rIns="0" bIns="0" rtlCol="0" anchor="ctr"/>
          <a:lstStyle/>
          <a:p>
            <a:pPr indent="0" marL="0">
              <a:buNone/>
            </a:pPr>
            <a:r>
              <a:rPr lang="en-US" sz="2600" b="1" dirty="0">
                <a:solidFill>
                  <a:srgbClr val="FFFFFF"/>
                </a:solidFill>
                <a:latin typeface="Avenir Next" pitchFamily="34" charset="0"/>
                <a:ea typeface="Avenir Next" pitchFamily="34" charset="-122"/>
                <a:cs typeface="Avenir Next" pitchFamily="34" charset="-120"/>
              </a:rPr>
              <a:t>Head of operations</a:t>
            </a:r>
            <a:endParaRPr lang="en-US" sz="2600" dirty="0"/>
          </a:p>
          <a:p>
            <a:pPr indent="0" marL="0">
              <a:buNone/>
            </a:pPr>
            <a:r>
              <a:rPr lang="en-US" sz="2600" b="1" dirty="0">
                <a:solidFill>
                  <a:srgbClr val="FFFFFF"/>
                </a:solidFill>
                <a:latin typeface="Avenir Next" pitchFamily="34" charset="0"/>
                <a:ea typeface="Avenir Next" pitchFamily="34" charset="-122"/>
                <a:cs typeface="Avenir Next" pitchFamily="34" charset="-120"/>
              </a:rPr>
              <a:t>or inventory planning</a:t>
            </a:r>
            <a:endParaRPr lang="en-US" sz="2600" dirty="0"/>
          </a:p>
        </p:txBody>
      </p:sp>
      <p:sp>
        <p:nvSpPr>
          <p:cNvPr id="11" name="Text 9"/>
          <p:cNvSpPr/>
          <p:nvPr/>
        </p:nvSpPr>
        <p:spPr>
          <a:xfrm>
            <a:off x="877824" y="4864608"/>
            <a:ext cx="3154680" cy="658368"/>
          </a:xfrm>
          <a:prstGeom prst="rect">
            <a:avLst/>
          </a:prstGeom>
          <a:noFill/>
          <a:ln/>
        </p:spPr>
        <p:txBody>
          <a:bodyPr wrap="square" lIns="0" tIns="0" rIns="0" bIns="0" rtlCol="0" anchor="ctr"/>
          <a:lstStyle/>
          <a:p>
            <a:pPr indent="0" marL="0">
              <a:buNone/>
            </a:pPr>
            <a:r>
              <a:rPr lang="en-US" sz="1600" dirty="0">
                <a:solidFill>
                  <a:srgbClr val="A9C1CC"/>
                </a:solidFill>
                <a:latin typeface="Avenir Next" pitchFamily="34" charset="0"/>
                <a:ea typeface="Avenir Next" pitchFamily="34" charset="-122"/>
                <a:cs typeface="Avenir Next" pitchFamily="34" charset="-120"/>
              </a:rPr>
              <a:t>Owns availability, working capital</a:t>
            </a:r>
            <a:endParaRPr lang="en-US" sz="1600" dirty="0"/>
          </a:p>
          <a:p>
            <a:pPr indent="0" marL="0">
              <a:buNone/>
            </a:pPr>
            <a:r>
              <a:rPr lang="en-US" sz="1600" dirty="0">
                <a:solidFill>
                  <a:srgbClr val="A9C1CC"/>
                </a:solidFill>
                <a:latin typeface="Avenir Next" pitchFamily="34" charset="0"/>
                <a:ea typeface="Avenir Next" pitchFamily="34" charset="-122"/>
                <a:cs typeface="Avenir Next" pitchFamily="34" charset="-120"/>
              </a:rPr>
              <a:t>and inter-warehouse decisions.</a:t>
            </a:r>
            <a:endParaRPr lang="en-US" sz="1600" dirty="0"/>
          </a:p>
        </p:txBody>
      </p:sp>
      <p:sp>
        <p:nvSpPr>
          <p:cNvPr id="12" name="Shape 10"/>
          <p:cNvSpPr/>
          <p:nvPr/>
        </p:nvSpPr>
        <p:spPr>
          <a:xfrm>
            <a:off x="4791456" y="2816352"/>
            <a:ext cx="1207008" cy="310896"/>
          </a:xfrm>
          <a:prstGeom prst="roundRect">
            <a:avLst>
              <a:gd name="adj" fmla="val 35294"/>
            </a:avLst>
          </a:prstGeom>
          <a:solidFill>
            <a:srgbClr val="DDEEE8"/>
          </a:solidFill>
          <a:ln w="12700">
            <a:solidFill>
              <a:srgbClr val="DDEEE8"/>
            </a:solidFill>
            <a:prstDash val="solid"/>
          </a:ln>
        </p:spPr>
      </p:sp>
      <p:sp>
        <p:nvSpPr>
          <p:cNvPr id="13" name="Text 11"/>
          <p:cNvSpPr/>
          <p:nvPr/>
        </p:nvSpPr>
        <p:spPr>
          <a:xfrm>
            <a:off x="4901184" y="2816352"/>
            <a:ext cx="987552" cy="310896"/>
          </a:xfrm>
          <a:prstGeom prst="rect">
            <a:avLst/>
          </a:prstGeom>
          <a:noFill/>
          <a:ln/>
        </p:spPr>
        <p:txBody>
          <a:bodyPr wrap="square" lIns="0" tIns="0" rIns="0" bIns="0" rtlCol="0" anchor="ctr"/>
          <a:lstStyle/>
          <a:p>
            <a:pPr indent="0" marL="0">
              <a:buNone/>
            </a:pPr>
            <a:r>
              <a:rPr lang="en-US" sz="1050" b="1" dirty="0">
                <a:solidFill>
                  <a:srgbClr val="007F78"/>
                </a:solidFill>
                <a:latin typeface="Avenir Next" pitchFamily="34" charset="0"/>
                <a:ea typeface="Avenir Next" pitchFamily="34" charset="-122"/>
                <a:cs typeface="Avenir Next" pitchFamily="34" charset="-120"/>
              </a:rPr>
              <a:t>LAND</a:t>
            </a:r>
            <a:endParaRPr lang="en-US" sz="1050" dirty="0"/>
          </a:p>
        </p:txBody>
      </p:sp>
      <p:sp>
        <p:nvSpPr>
          <p:cNvPr id="14" name="Text 12"/>
          <p:cNvSpPr/>
          <p:nvPr/>
        </p:nvSpPr>
        <p:spPr>
          <a:xfrm>
            <a:off x="6236208" y="2770632"/>
            <a:ext cx="5148072" cy="40233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A single distributor network</a:t>
            </a:r>
            <a:endParaRPr lang="en-US" sz="2100" dirty="0"/>
          </a:p>
        </p:txBody>
      </p:sp>
      <p:sp>
        <p:nvSpPr>
          <p:cNvPr id="15" name="Text 13"/>
          <p:cNvSpPr/>
          <p:nvPr/>
        </p:nvSpPr>
        <p:spPr>
          <a:xfrm>
            <a:off x="6254496" y="3264408"/>
            <a:ext cx="5084064"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Use familiar CSV exports; prove one repeatable planning workflow.</a:t>
            </a:r>
            <a:endParaRPr lang="en-US" sz="1500" dirty="0"/>
          </a:p>
        </p:txBody>
      </p:sp>
      <p:sp>
        <p:nvSpPr>
          <p:cNvPr id="16" name="Shape 14"/>
          <p:cNvSpPr/>
          <p:nvPr/>
        </p:nvSpPr>
        <p:spPr>
          <a:xfrm>
            <a:off x="4791456" y="3922776"/>
            <a:ext cx="1207008" cy="310896"/>
          </a:xfrm>
          <a:prstGeom prst="roundRect">
            <a:avLst>
              <a:gd name="adj" fmla="val 35294"/>
            </a:avLst>
          </a:prstGeom>
          <a:solidFill>
            <a:srgbClr val="DDEEE8"/>
          </a:solidFill>
          <a:ln w="12700">
            <a:solidFill>
              <a:srgbClr val="DDEEE8"/>
            </a:solidFill>
            <a:prstDash val="solid"/>
          </a:ln>
        </p:spPr>
      </p:sp>
      <p:sp>
        <p:nvSpPr>
          <p:cNvPr id="17" name="Text 15"/>
          <p:cNvSpPr/>
          <p:nvPr/>
        </p:nvSpPr>
        <p:spPr>
          <a:xfrm>
            <a:off x="4901184" y="3922776"/>
            <a:ext cx="987552" cy="310896"/>
          </a:xfrm>
          <a:prstGeom prst="rect">
            <a:avLst/>
          </a:prstGeom>
          <a:noFill/>
          <a:ln/>
        </p:spPr>
        <p:txBody>
          <a:bodyPr wrap="square" lIns="0" tIns="0" rIns="0" bIns="0" rtlCol="0" anchor="ctr"/>
          <a:lstStyle/>
          <a:p>
            <a:pPr indent="0" marL="0">
              <a:buNone/>
            </a:pPr>
            <a:r>
              <a:rPr lang="en-US" sz="1050" b="1" dirty="0">
                <a:solidFill>
                  <a:srgbClr val="007F78"/>
                </a:solidFill>
                <a:latin typeface="Avenir Next" pitchFamily="34" charset="0"/>
                <a:ea typeface="Avenir Next" pitchFamily="34" charset="-122"/>
                <a:cs typeface="Avenir Next" pitchFamily="34" charset="-120"/>
              </a:rPr>
              <a:t>EXPAND</a:t>
            </a:r>
            <a:endParaRPr lang="en-US" sz="1050" dirty="0"/>
          </a:p>
        </p:txBody>
      </p:sp>
      <p:sp>
        <p:nvSpPr>
          <p:cNvPr id="18" name="Text 16"/>
          <p:cNvSpPr/>
          <p:nvPr/>
        </p:nvSpPr>
        <p:spPr>
          <a:xfrm>
            <a:off x="6236208" y="3877056"/>
            <a:ext cx="5148072" cy="40233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More locations and product lines</a:t>
            </a:r>
            <a:endParaRPr lang="en-US" sz="2100" dirty="0"/>
          </a:p>
        </p:txBody>
      </p:sp>
      <p:sp>
        <p:nvSpPr>
          <p:cNvPr id="19" name="Text 17"/>
          <p:cNvSpPr/>
          <p:nvPr/>
        </p:nvSpPr>
        <p:spPr>
          <a:xfrm>
            <a:off x="6254496" y="4370832"/>
            <a:ext cx="5084064"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Reuse mappings and decision history once value is demonstrated.</a:t>
            </a:r>
            <a:endParaRPr lang="en-US" sz="1500" dirty="0"/>
          </a:p>
        </p:txBody>
      </p:sp>
      <p:sp>
        <p:nvSpPr>
          <p:cNvPr id="20" name="Shape 18"/>
          <p:cNvSpPr/>
          <p:nvPr/>
        </p:nvSpPr>
        <p:spPr>
          <a:xfrm>
            <a:off x="4791456" y="5029200"/>
            <a:ext cx="1207008" cy="310896"/>
          </a:xfrm>
          <a:prstGeom prst="roundRect">
            <a:avLst>
              <a:gd name="adj" fmla="val 35294"/>
            </a:avLst>
          </a:prstGeom>
          <a:solidFill>
            <a:srgbClr val="DDEEE8"/>
          </a:solidFill>
          <a:ln w="12700">
            <a:solidFill>
              <a:srgbClr val="DDEEE8"/>
            </a:solidFill>
            <a:prstDash val="solid"/>
          </a:ln>
        </p:spPr>
      </p:sp>
      <p:sp>
        <p:nvSpPr>
          <p:cNvPr id="21" name="Text 19"/>
          <p:cNvSpPr/>
          <p:nvPr/>
        </p:nvSpPr>
        <p:spPr>
          <a:xfrm>
            <a:off x="4901184" y="5029200"/>
            <a:ext cx="987552" cy="310896"/>
          </a:xfrm>
          <a:prstGeom prst="rect">
            <a:avLst/>
          </a:prstGeom>
          <a:noFill/>
          <a:ln/>
        </p:spPr>
        <p:txBody>
          <a:bodyPr wrap="square" lIns="0" tIns="0" rIns="0" bIns="0" rtlCol="0" anchor="ctr"/>
          <a:lstStyle/>
          <a:p>
            <a:pPr indent="0" marL="0">
              <a:buNone/>
            </a:pPr>
            <a:r>
              <a:rPr lang="en-US" sz="1050" b="1" dirty="0">
                <a:solidFill>
                  <a:srgbClr val="007F78"/>
                </a:solidFill>
                <a:latin typeface="Avenir Next" pitchFamily="34" charset="0"/>
                <a:ea typeface="Avenir Next" pitchFamily="34" charset="-122"/>
                <a:cs typeface="Avenir Next" pitchFamily="34" charset="-120"/>
              </a:rPr>
              <a:t>VALIDATE</a:t>
            </a:r>
            <a:endParaRPr lang="en-US" sz="1050" dirty="0"/>
          </a:p>
        </p:txBody>
      </p:sp>
      <p:sp>
        <p:nvSpPr>
          <p:cNvPr id="22" name="Text 20"/>
          <p:cNvSpPr/>
          <p:nvPr/>
        </p:nvSpPr>
        <p:spPr>
          <a:xfrm>
            <a:off x="6236208" y="4983480"/>
            <a:ext cx="5148072" cy="40233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Size the reachable market bottom-up</a:t>
            </a:r>
            <a:endParaRPr lang="en-US" sz="2100" dirty="0"/>
          </a:p>
        </p:txBody>
      </p:sp>
      <p:sp>
        <p:nvSpPr>
          <p:cNvPr id="23" name="Text 21"/>
          <p:cNvSpPr/>
          <p:nvPr/>
        </p:nvSpPr>
        <p:spPr>
          <a:xfrm>
            <a:off x="6254496" y="5477256"/>
            <a:ext cx="5084064"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Qualified accounts × validated annual price. No TAM claim yet.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THE PRODUCT</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One workspace. Seven steps to a defensible plan.</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Working Streamlit interface with deterministic calculations and optional tool-grounded chat.</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04</a:t>
            </a:r>
            <a:endParaRPr lang="en-US" sz="1100" dirty="0"/>
          </a:p>
        </p:txBody>
      </p:sp>
      <p:sp>
        <p:nvSpPr>
          <p:cNvPr id="8" name="Shape 6"/>
          <p:cNvSpPr/>
          <p:nvPr/>
        </p:nvSpPr>
        <p:spPr>
          <a:xfrm>
            <a:off x="594360" y="2734056"/>
            <a:ext cx="3502152" cy="566928"/>
          </a:xfrm>
          <a:prstGeom prst="roundRect">
            <a:avLst>
              <a:gd name="adj" fmla="val 19355"/>
            </a:avLst>
          </a:prstGeom>
          <a:solidFill>
            <a:srgbClr val="102A43"/>
          </a:solidFill>
          <a:ln w="12700">
            <a:solidFill>
              <a:srgbClr val="102A43"/>
            </a:solidFill>
            <a:prstDash val="solid"/>
          </a:ln>
        </p:spPr>
      </p:sp>
      <p:sp>
        <p:nvSpPr>
          <p:cNvPr id="9" name="Text 7"/>
          <p:cNvSpPr/>
          <p:nvPr/>
        </p:nvSpPr>
        <p:spPr>
          <a:xfrm>
            <a:off x="804672" y="2743200"/>
            <a:ext cx="3081528" cy="539496"/>
          </a:xfrm>
          <a:prstGeom prst="rect">
            <a:avLst/>
          </a:prstGeom>
          <a:noFill/>
          <a:ln/>
        </p:spPr>
        <p:txBody>
          <a:bodyPr wrap="square" lIns="0" tIns="0" rIns="0" bIns="0" rtlCol="0" anchor="ctr"/>
          <a:lstStyle/>
          <a:p>
            <a:pPr indent="0" marL="0">
              <a:buNone/>
            </a:pPr>
            <a:r>
              <a:rPr lang="en-US" sz="1400" b="1" dirty="0">
                <a:solidFill>
                  <a:srgbClr val="FFFFFF"/>
                </a:solidFill>
                <a:latin typeface="Avenir Next" pitchFamily="34" charset="0"/>
                <a:ea typeface="Avenir Next" pitchFamily="34" charset="-122"/>
                <a:cs typeface="Avenir Next" pitchFamily="34" charset="-120"/>
              </a:rPr>
              <a:t>01 / UNDERSTAND</a:t>
            </a:r>
            <a:endParaRPr lang="en-US" sz="1400" dirty="0"/>
          </a:p>
        </p:txBody>
      </p:sp>
      <p:sp>
        <p:nvSpPr>
          <p:cNvPr id="10" name="Shape 8"/>
          <p:cNvSpPr/>
          <p:nvPr/>
        </p:nvSpPr>
        <p:spPr>
          <a:xfrm>
            <a:off x="594360" y="3483864"/>
            <a:ext cx="3502152" cy="658368"/>
          </a:xfrm>
          <a:prstGeom prst="roundRect">
            <a:avLst>
              <a:gd name="adj" fmla="val 16667"/>
            </a:avLst>
          </a:prstGeom>
          <a:solidFill>
            <a:srgbClr val="FFFFFF"/>
          </a:solidFill>
          <a:ln w="12700">
            <a:solidFill>
              <a:srgbClr val="FFFFFF"/>
            </a:solidFill>
            <a:prstDash val="solid"/>
          </a:ln>
        </p:spPr>
      </p:sp>
      <p:sp>
        <p:nvSpPr>
          <p:cNvPr id="11" name="Text 9"/>
          <p:cNvSpPr/>
          <p:nvPr/>
        </p:nvSpPr>
        <p:spPr>
          <a:xfrm>
            <a:off x="777240" y="3538728"/>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Stock overview</a:t>
            </a:r>
            <a:endParaRPr lang="en-US" sz="1600" dirty="0"/>
          </a:p>
        </p:txBody>
      </p:sp>
      <p:sp>
        <p:nvSpPr>
          <p:cNvPr id="12" name="Text 10"/>
          <p:cNvSpPr/>
          <p:nvPr/>
        </p:nvSpPr>
        <p:spPr>
          <a:xfrm>
            <a:off x="777240" y="3840480"/>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Available, reserved, inbound + sources</a:t>
            </a:r>
            <a:endParaRPr lang="en-US" sz="1150" dirty="0"/>
          </a:p>
        </p:txBody>
      </p:sp>
      <p:sp>
        <p:nvSpPr>
          <p:cNvPr id="13" name="Shape 11"/>
          <p:cNvSpPr/>
          <p:nvPr/>
        </p:nvSpPr>
        <p:spPr>
          <a:xfrm>
            <a:off x="594360" y="4233672"/>
            <a:ext cx="3502152" cy="658368"/>
          </a:xfrm>
          <a:prstGeom prst="roundRect">
            <a:avLst>
              <a:gd name="adj" fmla="val 16667"/>
            </a:avLst>
          </a:prstGeom>
          <a:solidFill>
            <a:srgbClr val="FFFFFF"/>
          </a:solidFill>
          <a:ln w="12700">
            <a:solidFill>
              <a:srgbClr val="FFFFFF"/>
            </a:solidFill>
            <a:prstDash val="solid"/>
          </a:ln>
        </p:spPr>
      </p:sp>
      <p:sp>
        <p:nvSpPr>
          <p:cNvPr id="14" name="Text 12"/>
          <p:cNvSpPr/>
          <p:nvPr/>
        </p:nvSpPr>
        <p:spPr>
          <a:xfrm>
            <a:off x="777240" y="4288536"/>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Forecast</a:t>
            </a:r>
            <a:endParaRPr lang="en-US" sz="1600" dirty="0"/>
          </a:p>
        </p:txBody>
      </p:sp>
      <p:sp>
        <p:nvSpPr>
          <p:cNvPr id="15" name="Text 13"/>
          <p:cNvSpPr/>
          <p:nvPr/>
        </p:nvSpPr>
        <p:spPr>
          <a:xfrm>
            <a:off x="777240" y="4590288"/>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P10 / P50 / P90 demand + data quality</a:t>
            </a:r>
            <a:endParaRPr lang="en-US" sz="1150" dirty="0"/>
          </a:p>
        </p:txBody>
      </p:sp>
      <p:sp>
        <p:nvSpPr>
          <p:cNvPr id="16" name="Shape 14"/>
          <p:cNvSpPr/>
          <p:nvPr/>
        </p:nvSpPr>
        <p:spPr>
          <a:xfrm>
            <a:off x="4352544" y="2734056"/>
            <a:ext cx="3502152" cy="566928"/>
          </a:xfrm>
          <a:prstGeom prst="roundRect">
            <a:avLst>
              <a:gd name="adj" fmla="val 19355"/>
            </a:avLst>
          </a:prstGeom>
          <a:solidFill>
            <a:srgbClr val="007F78"/>
          </a:solidFill>
          <a:ln w="12700">
            <a:solidFill>
              <a:srgbClr val="007F78"/>
            </a:solidFill>
            <a:prstDash val="solid"/>
          </a:ln>
        </p:spPr>
      </p:sp>
      <p:sp>
        <p:nvSpPr>
          <p:cNvPr id="17" name="Text 15"/>
          <p:cNvSpPr/>
          <p:nvPr/>
        </p:nvSpPr>
        <p:spPr>
          <a:xfrm>
            <a:off x="4562856" y="2743200"/>
            <a:ext cx="3081528" cy="539496"/>
          </a:xfrm>
          <a:prstGeom prst="rect">
            <a:avLst/>
          </a:prstGeom>
          <a:noFill/>
          <a:ln/>
        </p:spPr>
        <p:txBody>
          <a:bodyPr wrap="square" lIns="0" tIns="0" rIns="0" bIns="0" rtlCol="0" anchor="ctr"/>
          <a:lstStyle/>
          <a:p>
            <a:pPr indent="0" marL="0">
              <a:buNone/>
            </a:pPr>
            <a:r>
              <a:rPr lang="en-US" sz="1400" b="1" dirty="0">
                <a:solidFill>
                  <a:srgbClr val="FFFFFF"/>
                </a:solidFill>
                <a:latin typeface="Avenir Next" pitchFamily="34" charset="0"/>
                <a:ea typeface="Avenir Next" pitchFamily="34" charset="-122"/>
                <a:cs typeface="Avenir Next" pitchFamily="34" charset="-120"/>
              </a:rPr>
              <a:t>02 / DECIDE</a:t>
            </a:r>
            <a:endParaRPr lang="en-US" sz="1400" dirty="0"/>
          </a:p>
        </p:txBody>
      </p:sp>
      <p:sp>
        <p:nvSpPr>
          <p:cNvPr id="18" name="Shape 16"/>
          <p:cNvSpPr/>
          <p:nvPr/>
        </p:nvSpPr>
        <p:spPr>
          <a:xfrm>
            <a:off x="4352544" y="3483864"/>
            <a:ext cx="3502152" cy="658368"/>
          </a:xfrm>
          <a:prstGeom prst="roundRect">
            <a:avLst>
              <a:gd name="adj" fmla="val 16667"/>
            </a:avLst>
          </a:prstGeom>
          <a:solidFill>
            <a:srgbClr val="FFFFFF"/>
          </a:solidFill>
          <a:ln w="12700">
            <a:solidFill>
              <a:srgbClr val="FFFFFF"/>
            </a:solidFill>
            <a:prstDash val="solid"/>
          </a:ln>
        </p:spPr>
      </p:sp>
      <p:sp>
        <p:nvSpPr>
          <p:cNvPr id="19" name="Text 17"/>
          <p:cNvSpPr/>
          <p:nvPr/>
        </p:nvSpPr>
        <p:spPr>
          <a:xfrm>
            <a:off x="4535424" y="3538728"/>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Imbalances</a:t>
            </a:r>
            <a:endParaRPr lang="en-US" sz="1600" dirty="0"/>
          </a:p>
        </p:txBody>
      </p:sp>
      <p:sp>
        <p:nvSpPr>
          <p:cNvPr id="20" name="Text 18"/>
          <p:cNvSpPr/>
          <p:nvPr/>
        </p:nvSpPr>
        <p:spPr>
          <a:xfrm>
            <a:off x="4535424" y="3840480"/>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Shortage, excess and ageing exceptions</a:t>
            </a:r>
            <a:endParaRPr lang="en-US" sz="1150" dirty="0"/>
          </a:p>
        </p:txBody>
      </p:sp>
      <p:sp>
        <p:nvSpPr>
          <p:cNvPr id="21" name="Shape 19"/>
          <p:cNvSpPr/>
          <p:nvPr/>
        </p:nvSpPr>
        <p:spPr>
          <a:xfrm>
            <a:off x="4352544" y="4233672"/>
            <a:ext cx="3502152" cy="658368"/>
          </a:xfrm>
          <a:prstGeom prst="roundRect">
            <a:avLst>
              <a:gd name="adj" fmla="val 16667"/>
            </a:avLst>
          </a:prstGeom>
          <a:solidFill>
            <a:srgbClr val="FFFFFF"/>
          </a:solidFill>
          <a:ln w="12700">
            <a:solidFill>
              <a:srgbClr val="FFFFFF"/>
            </a:solidFill>
            <a:prstDash val="solid"/>
          </a:ln>
        </p:spPr>
      </p:sp>
      <p:sp>
        <p:nvSpPr>
          <p:cNvPr id="22" name="Text 20"/>
          <p:cNvSpPr/>
          <p:nvPr/>
        </p:nvSpPr>
        <p:spPr>
          <a:xfrm>
            <a:off x="4535424" y="4288536"/>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Recommendations</a:t>
            </a:r>
            <a:endParaRPr lang="en-US" sz="1600" dirty="0"/>
          </a:p>
        </p:txBody>
      </p:sp>
      <p:sp>
        <p:nvSpPr>
          <p:cNvPr id="23" name="Text 21"/>
          <p:cNvSpPr/>
          <p:nvPr/>
        </p:nvSpPr>
        <p:spPr>
          <a:xfrm>
            <a:off x="4535424" y="4590288"/>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Feasible quantities, routes and economics</a:t>
            </a:r>
            <a:endParaRPr lang="en-US" sz="1150" dirty="0"/>
          </a:p>
        </p:txBody>
      </p:sp>
      <p:sp>
        <p:nvSpPr>
          <p:cNvPr id="24" name="Shape 22"/>
          <p:cNvSpPr/>
          <p:nvPr/>
        </p:nvSpPr>
        <p:spPr>
          <a:xfrm>
            <a:off x="4352544" y="4983480"/>
            <a:ext cx="3502152" cy="658368"/>
          </a:xfrm>
          <a:prstGeom prst="roundRect">
            <a:avLst>
              <a:gd name="adj" fmla="val 16667"/>
            </a:avLst>
          </a:prstGeom>
          <a:solidFill>
            <a:srgbClr val="FFFFFF"/>
          </a:solidFill>
          <a:ln w="12700">
            <a:solidFill>
              <a:srgbClr val="FFFFFF"/>
            </a:solidFill>
            <a:prstDash val="solid"/>
          </a:ln>
        </p:spPr>
      </p:sp>
      <p:sp>
        <p:nvSpPr>
          <p:cNvPr id="25" name="Text 23"/>
          <p:cNvSpPr/>
          <p:nvPr/>
        </p:nvSpPr>
        <p:spPr>
          <a:xfrm>
            <a:off x="4535424" y="5038344"/>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Impact</a:t>
            </a:r>
            <a:endParaRPr lang="en-US" sz="1600" dirty="0"/>
          </a:p>
        </p:txBody>
      </p:sp>
      <p:sp>
        <p:nvSpPr>
          <p:cNvPr id="26" name="Text 24"/>
          <p:cNvSpPr/>
          <p:nvPr/>
        </p:nvSpPr>
        <p:spPr>
          <a:xfrm>
            <a:off x="4535424" y="5340096"/>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Before / after outcomes on one forecast</a:t>
            </a:r>
            <a:endParaRPr lang="en-US" sz="1150" dirty="0"/>
          </a:p>
        </p:txBody>
      </p:sp>
      <p:sp>
        <p:nvSpPr>
          <p:cNvPr id="27" name="Shape 25"/>
          <p:cNvSpPr/>
          <p:nvPr/>
        </p:nvSpPr>
        <p:spPr>
          <a:xfrm>
            <a:off x="8101584" y="2734056"/>
            <a:ext cx="3502152" cy="566928"/>
          </a:xfrm>
          <a:prstGeom prst="roundRect">
            <a:avLst>
              <a:gd name="adj" fmla="val 19355"/>
            </a:avLst>
          </a:prstGeom>
          <a:solidFill>
            <a:srgbClr val="102A43"/>
          </a:solidFill>
          <a:ln w="12700">
            <a:solidFill>
              <a:srgbClr val="102A43"/>
            </a:solidFill>
            <a:prstDash val="solid"/>
          </a:ln>
        </p:spPr>
      </p:sp>
      <p:sp>
        <p:nvSpPr>
          <p:cNvPr id="28" name="Text 26"/>
          <p:cNvSpPr/>
          <p:nvPr/>
        </p:nvSpPr>
        <p:spPr>
          <a:xfrm>
            <a:off x="8311896" y="2743200"/>
            <a:ext cx="3081528" cy="539496"/>
          </a:xfrm>
          <a:prstGeom prst="rect">
            <a:avLst/>
          </a:prstGeom>
          <a:noFill/>
          <a:ln/>
        </p:spPr>
        <p:txBody>
          <a:bodyPr wrap="square" lIns="0" tIns="0" rIns="0" bIns="0" rtlCol="0" anchor="ctr"/>
          <a:lstStyle/>
          <a:p>
            <a:pPr indent="0" marL="0">
              <a:buNone/>
            </a:pPr>
            <a:r>
              <a:rPr lang="en-US" sz="1400" b="1" dirty="0">
                <a:solidFill>
                  <a:srgbClr val="FFFFFF"/>
                </a:solidFill>
                <a:latin typeface="Avenir Next" pitchFamily="34" charset="0"/>
                <a:ea typeface="Avenir Next" pitchFamily="34" charset="-122"/>
                <a:cs typeface="Avenir Next" pitchFamily="34" charset="-120"/>
              </a:rPr>
              <a:t>03 / CONTROL</a:t>
            </a:r>
            <a:endParaRPr lang="en-US" sz="1400" dirty="0"/>
          </a:p>
        </p:txBody>
      </p:sp>
      <p:sp>
        <p:nvSpPr>
          <p:cNvPr id="29" name="Shape 27"/>
          <p:cNvSpPr/>
          <p:nvPr/>
        </p:nvSpPr>
        <p:spPr>
          <a:xfrm>
            <a:off x="8101584" y="3483864"/>
            <a:ext cx="3502152" cy="658368"/>
          </a:xfrm>
          <a:prstGeom prst="roundRect">
            <a:avLst>
              <a:gd name="adj" fmla="val 16667"/>
            </a:avLst>
          </a:prstGeom>
          <a:solidFill>
            <a:srgbClr val="FFFFFF"/>
          </a:solidFill>
          <a:ln w="12700">
            <a:solidFill>
              <a:srgbClr val="FFFFFF"/>
            </a:solidFill>
            <a:prstDash val="solid"/>
          </a:ln>
        </p:spPr>
      </p:sp>
      <p:sp>
        <p:nvSpPr>
          <p:cNvPr id="30" name="Text 28"/>
          <p:cNvSpPr/>
          <p:nvPr/>
        </p:nvSpPr>
        <p:spPr>
          <a:xfrm>
            <a:off x="8284464" y="3538728"/>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Edit records</a:t>
            </a:r>
            <a:endParaRPr lang="en-US" sz="1600" dirty="0"/>
          </a:p>
        </p:txBody>
      </p:sp>
      <p:sp>
        <p:nvSpPr>
          <p:cNvPr id="31" name="Text 29"/>
          <p:cNvSpPr/>
          <p:nvPr/>
        </p:nvSpPr>
        <p:spPr>
          <a:xfrm>
            <a:off x="8284464" y="3840480"/>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Correct once; recompute the whole plan</a:t>
            </a:r>
            <a:endParaRPr lang="en-US" sz="1150" dirty="0"/>
          </a:p>
        </p:txBody>
      </p:sp>
      <p:sp>
        <p:nvSpPr>
          <p:cNvPr id="32" name="Shape 30"/>
          <p:cNvSpPr/>
          <p:nvPr/>
        </p:nvSpPr>
        <p:spPr>
          <a:xfrm>
            <a:off x="8101584" y="4233672"/>
            <a:ext cx="3502152" cy="658368"/>
          </a:xfrm>
          <a:prstGeom prst="roundRect">
            <a:avLst>
              <a:gd name="adj" fmla="val 16667"/>
            </a:avLst>
          </a:prstGeom>
          <a:solidFill>
            <a:srgbClr val="FFFFFF"/>
          </a:solidFill>
          <a:ln w="12700">
            <a:solidFill>
              <a:srgbClr val="FFFFFF"/>
            </a:solidFill>
            <a:prstDash val="solid"/>
          </a:ln>
        </p:spPr>
      </p:sp>
      <p:sp>
        <p:nvSpPr>
          <p:cNvPr id="33" name="Text 31"/>
          <p:cNvSpPr/>
          <p:nvPr/>
        </p:nvSpPr>
        <p:spPr>
          <a:xfrm>
            <a:off x="8284464" y="4288536"/>
            <a:ext cx="3118104" cy="246888"/>
          </a:xfrm>
          <a:prstGeom prst="rect">
            <a:avLst/>
          </a:prstGeom>
          <a:noFill/>
          <a:ln/>
        </p:spPr>
        <p:txBody>
          <a:bodyPr wrap="square" lIns="0" tIns="0" rIns="0" bIns="0" rtlCol="0" anchor="ctr"/>
          <a:lstStyle/>
          <a:p>
            <a:pPr indent="0" marL="0">
              <a:buNone/>
            </a:pPr>
            <a:r>
              <a:rPr lang="en-US" sz="1600" b="1" dirty="0">
                <a:solidFill>
                  <a:srgbClr val="16354A"/>
                </a:solidFill>
                <a:latin typeface="Avenir Next" pitchFamily="34" charset="0"/>
                <a:ea typeface="Avenir Next" pitchFamily="34" charset="-122"/>
                <a:cs typeface="Avenir Next" pitchFamily="34" charset="-120"/>
              </a:rPr>
              <a:t>Assistant</a:t>
            </a:r>
            <a:endParaRPr lang="en-US" sz="1600" dirty="0"/>
          </a:p>
        </p:txBody>
      </p:sp>
      <p:sp>
        <p:nvSpPr>
          <p:cNvPr id="34" name="Text 32"/>
          <p:cNvSpPr/>
          <p:nvPr/>
        </p:nvSpPr>
        <p:spPr>
          <a:xfrm>
            <a:off x="8284464" y="4590288"/>
            <a:ext cx="3118104" cy="219456"/>
          </a:xfrm>
          <a:prstGeom prst="rect">
            <a:avLst/>
          </a:prstGeom>
          <a:noFill/>
          <a:ln/>
        </p:spPr>
        <p:txBody>
          <a:bodyPr wrap="square" lIns="0" tIns="0" rIns="0" bIns="0" rtlCol="0" anchor="ctr"/>
          <a:lstStyle/>
          <a:p>
            <a:pPr indent="0" marL="0">
              <a:buNone/>
            </a:pPr>
            <a:r>
              <a:rPr lang="en-US" sz="1150" dirty="0">
                <a:solidFill>
                  <a:srgbClr val="526574"/>
                </a:solidFill>
                <a:latin typeface="Avenir Next" pitchFamily="34" charset="0"/>
                <a:ea typeface="Avenir Next" pitchFamily="34" charset="-122"/>
                <a:cs typeface="Avenir Next" pitchFamily="34" charset="-120"/>
              </a:rPr>
              <a:t>Explain evidence; stage changes for review</a:t>
            </a:r>
            <a:endParaRPr lang="en-US" sz="1150" dirty="0"/>
          </a:p>
        </p:txBody>
      </p:sp>
      <p:sp>
        <p:nvSpPr>
          <p:cNvPr id="35" name="Shape 33"/>
          <p:cNvSpPr/>
          <p:nvPr/>
        </p:nvSpPr>
        <p:spPr>
          <a:xfrm>
            <a:off x="603504" y="5961888"/>
            <a:ext cx="10991088" cy="320040"/>
          </a:xfrm>
          <a:prstGeom prst="roundRect">
            <a:avLst>
              <a:gd name="adj" fmla="val 34286"/>
            </a:avLst>
          </a:prstGeom>
          <a:solidFill>
            <a:srgbClr val="DDEEE8"/>
          </a:solidFill>
          <a:ln w="12700">
            <a:solidFill>
              <a:srgbClr val="DDEEE8"/>
            </a:solidFill>
            <a:prstDash val="solid"/>
          </a:ln>
        </p:spPr>
      </p:sp>
      <p:sp>
        <p:nvSpPr>
          <p:cNvPr id="36" name="Text 34"/>
          <p:cNvSpPr/>
          <p:nvPr/>
        </p:nvSpPr>
        <p:spPr>
          <a:xfrm>
            <a:off x="758952" y="5980176"/>
            <a:ext cx="10661904" cy="274320"/>
          </a:xfrm>
          <a:prstGeom prst="rect">
            <a:avLst/>
          </a:prstGeom>
          <a:noFill/>
          <a:ln/>
        </p:spPr>
        <p:txBody>
          <a:bodyPr wrap="square" lIns="0" tIns="0" rIns="0" bIns="0" rtlCol="0" anchor="ctr"/>
          <a:lstStyle/>
          <a:p>
            <a:pPr indent="0" marL="0">
              <a:buNone/>
            </a:pPr>
            <a:r>
              <a:rPr lang="en-US" sz="1300" b="1" dirty="0">
                <a:solidFill>
                  <a:srgbClr val="007F78"/>
                </a:solidFill>
                <a:latin typeface="Avenir Next" pitchFamily="34" charset="0"/>
                <a:ea typeface="Avenir Next" pitchFamily="34" charset="-122"/>
                <a:cs typeface="Avenir Next" pitchFamily="34" charset="-120"/>
              </a:rPr>
              <a:t>Human review required. No stock movement executes.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SYNTHETIC DEMONSTRATION</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The right stock exists. It is in the wrong place.</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SKU01 charger | Current prototype snapshot: 26 October 2026 | Forecast: next 30 days</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Source: current seed-42 pipeline. Synthetic data; fitted forecasts are uncertain, not customer demand commitments.</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05</a:t>
            </a:r>
            <a:endParaRPr lang="en-US" sz="1100" dirty="0"/>
          </a:p>
        </p:txBody>
      </p:sp>
      <p:sp>
        <p:nvSpPr>
          <p:cNvPr id="8" name="Shape 6"/>
          <p:cNvSpPr/>
          <p:nvPr/>
        </p:nvSpPr>
        <p:spPr>
          <a:xfrm>
            <a:off x="594360" y="2670048"/>
            <a:ext cx="3502152" cy="2523744"/>
          </a:xfrm>
          <a:prstGeom prst="roundRect">
            <a:avLst>
              <a:gd name="adj" fmla="val 4348"/>
            </a:avLst>
          </a:prstGeom>
          <a:solidFill>
            <a:srgbClr val="FFFFFF"/>
          </a:solidFill>
          <a:ln w="12700">
            <a:solidFill>
              <a:srgbClr val="FFFFFF"/>
            </a:solidFill>
            <a:prstDash val="solid"/>
          </a:ln>
        </p:spPr>
      </p:sp>
      <p:sp>
        <p:nvSpPr>
          <p:cNvPr id="9" name="Text 7"/>
          <p:cNvSpPr/>
          <p:nvPr/>
        </p:nvSpPr>
        <p:spPr>
          <a:xfrm>
            <a:off x="822960" y="2862072"/>
            <a:ext cx="2651760" cy="256032"/>
          </a:xfrm>
          <a:prstGeom prst="rect">
            <a:avLst/>
          </a:prstGeom>
          <a:noFill/>
          <a:ln/>
        </p:spPr>
        <p:txBody>
          <a:bodyPr wrap="square" lIns="0" tIns="0" rIns="0" bIns="0" rtlCol="0" anchor="ctr"/>
          <a:lstStyle/>
          <a:p>
            <a:pPr indent="0" marL="0">
              <a:buNone/>
            </a:pPr>
            <a:r>
              <a:rPr lang="en-US" sz="1200" b="1" spc="110" kern="0" dirty="0">
                <a:solidFill>
                  <a:srgbClr val="007F78"/>
                </a:solidFill>
                <a:latin typeface="Avenir Next" pitchFamily="34" charset="0"/>
                <a:ea typeface="Avenir Next" pitchFamily="34" charset="-122"/>
                <a:cs typeface="Avenir Next" pitchFamily="34" charset="-120"/>
              </a:rPr>
              <a:t>DUBAI</a:t>
            </a:r>
            <a:endParaRPr lang="en-US" sz="1200" dirty="0"/>
          </a:p>
        </p:txBody>
      </p:sp>
      <p:sp>
        <p:nvSpPr>
          <p:cNvPr id="10" name="Text 8"/>
          <p:cNvSpPr/>
          <p:nvPr/>
        </p:nvSpPr>
        <p:spPr>
          <a:xfrm>
            <a:off x="804672" y="3273552"/>
            <a:ext cx="1773936" cy="722376"/>
          </a:xfrm>
          <a:prstGeom prst="rect">
            <a:avLst/>
          </a:prstGeom>
          <a:noFill/>
          <a:ln/>
        </p:spPr>
        <p:txBody>
          <a:bodyPr wrap="square" lIns="0" tIns="0" rIns="0" bIns="0" rtlCol="0" anchor="ctr"/>
          <a:lstStyle/>
          <a:p>
            <a:pPr indent="0" marL="0">
              <a:buNone/>
            </a:pPr>
            <a:r>
              <a:rPr lang="en-US" sz="4900" b="1" dirty="0">
                <a:solidFill>
                  <a:srgbClr val="16354A"/>
                </a:solidFill>
                <a:latin typeface="Avenir Next" pitchFamily="34" charset="0"/>
                <a:ea typeface="Avenir Next" pitchFamily="34" charset="-122"/>
                <a:cs typeface="Avenir Next" pitchFamily="34" charset="-120"/>
              </a:rPr>
              <a:t>500</a:t>
            </a:r>
            <a:endParaRPr lang="en-US" sz="4900" dirty="0"/>
          </a:p>
        </p:txBody>
      </p:sp>
      <p:sp>
        <p:nvSpPr>
          <p:cNvPr id="11" name="Text 9"/>
          <p:cNvSpPr/>
          <p:nvPr/>
        </p:nvSpPr>
        <p:spPr>
          <a:xfrm>
            <a:off x="2386584" y="3648456"/>
            <a:ext cx="1472184" cy="246888"/>
          </a:xfrm>
          <a:prstGeom prst="rect">
            <a:avLst/>
          </a:prstGeom>
          <a:noFill/>
          <a:ln/>
        </p:spPr>
        <p:txBody>
          <a:bodyPr wrap="square" lIns="0" tIns="0" rIns="0" bIns="0" rtlCol="0" anchor="ctr"/>
          <a:lstStyle/>
          <a:p>
            <a:pPr indent="0" marL="0">
              <a:buNone/>
            </a:pPr>
            <a:r>
              <a:rPr lang="en-US" sz="1200" dirty="0">
                <a:solidFill>
                  <a:srgbClr val="526574"/>
                </a:solidFill>
                <a:latin typeface="Avenir Next" pitchFamily="34" charset="0"/>
                <a:ea typeface="Avenir Next" pitchFamily="34" charset="-122"/>
                <a:cs typeface="Avenir Next" pitchFamily="34" charset="-120"/>
              </a:rPr>
              <a:t>available units</a:t>
            </a:r>
            <a:endParaRPr lang="en-US" sz="1200" dirty="0"/>
          </a:p>
        </p:txBody>
      </p:sp>
      <p:sp>
        <p:nvSpPr>
          <p:cNvPr id="12" name="Text 10"/>
          <p:cNvSpPr/>
          <p:nvPr/>
        </p:nvSpPr>
        <p:spPr>
          <a:xfrm>
            <a:off x="832104" y="4270248"/>
            <a:ext cx="2962656" cy="292608"/>
          </a:xfrm>
          <a:prstGeom prst="rect">
            <a:avLst/>
          </a:prstGeom>
          <a:noFill/>
          <a:ln/>
        </p:spPr>
        <p:txBody>
          <a:bodyPr wrap="square" lIns="0" tIns="0" rIns="0" bIns="0" rtlCol="0" anchor="ctr"/>
          <a:lstStyle/>
          <a:p>
            <a:pPr indent="0" marL="0">
              <a:buNone/>
            </a:pPr>
            <a:r>
              <a:rPr lang="en-US" sz="2000" b="1" dirty="0">
                <a:solidFill>
                  <a:srgbClr val="16354A"/>
                </a:solidFill>
                <a:latin typeface="Avenir Next" pitchFamily="34" charset="0"/>
                <a:ea typeface="Avenir Next" pitchFamily="34" charset="-122"/>
                <a:cs typeface="Avenir Next" pitchFamily="34" charset="-120"/>
              </a:rPr>
              <a:t>P50 demand 191.50</a:t>
            </a:r>
            <a:endParaRPr lang="en-US" sz="2000" dirty="0"/>
          </a:p>
        </p:txBody>
      </p:sp>
      <p:sp>
        <p:nvSpPr>
          <p:cNvPr id="13" name="Text 11"/>
          <p:cNvSpPr/>
          <p:nvPr/>
        </p:nvSpPr>
        <p:spPr>
          <a:xfrm>
            <a:off x="841248" y="4690872"/>
            <a:ext cx="2962656" cy="219456"/>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P10 175.46 / P90 207.54</a:t>
            </a:r>
            <a:endParaRPr lang="en-US" sz="1100" dirty="0"/>
          </a:p>
        </p:txBody>
      </p:sp>
      <p:sp>
        <p:nvSpPr>
          <p:cNvPr id="14" name="Shape 12"/>
          <p:cNvSpPr/>
          <p:nvPr/>
        </p:nvSpPr>
        <p:spPr>
          <a:xfrm>
            <a:off x="4352544" y="2670048"/>
            <a:ext cx="3502152" cy="2523744"/>
          </a:xfrm>
          <a:prstGeom prst="roundRect">
            <a:avLst>
              <a:gd name="adj" fmla="val 4348"/>
            </a:avLst>
          </a:prstGeom>
          <a:solidFill>
            <a:srgbClr val="FFFFFF"/>
          </a:solidFill>
          <a:ln w="12700">
            <a:solidFill>
              <a:srgbClr val="FFFFFF"/>
            </a:solidFill>
            <a:prstDash val="solid"/>
          </a:ln>
        </p:spPr>
      </p:sp>
      <p:sp>
        <p:nvSpPr>
          <p:cNvPr id="15" name="Text 13"/>
          <p:cNvSpPr/>
          <p:nvPr/>
        </p:nvSpPr>
        <p:spPr>
          <a:xfrm>
            <a:off x="4581144" y="2862072"/>
            <a:ext cx="2651760" cy="256032"/>
          </a:xfrm>
          <a:prstGeom prst="rect">
            <a:avLst/>
          </a:prstGeom>
          <a:noFill/>
          <a:ln/>
        </p:spPr>
        <p:txBody>
          <a:bodyPr wrap="square" lIns="0" tIns="0" rIns="0" bIns="0" rtlCol="0" anchor="ctr"/>
          <a:lstStyle/>
          <a:p>
            <a:pPr indent="0" marL="0">
              <a:buNone/>
            </a:pPr>
            <a:r>
              <a:rPr lang="en-US" sz="1200" b="1" spc="110" kern="0" dirty="0">
                <a:solidFill>
                  <a:srgbClr val="007F78"/>
                </a:solidFill>
                <a:latin typeface="Avenir Next" pitchFamily="34" charset="0"/>
                <a:ea typeface="Avenir Next" pitchFamily="34" charset="-122"/>
                <a:cs typeface="Avenir Next" pitchFamily="34" charset="-120"/>
              </a:rPr>
              <a:t>ABU DHABI</a:t>
            </a:r>
            <a:endParaRPr lang="en-US" sz="1200" dirty="0"/>
          </a:p>
        </p:txBody>
      </p:sp>
      <p:sp>
        <p:nvSpPr>
          <p:cNvPr id="16" name="Text 14"/>
          <p:cNvSpPr/>
          <p:nvPr/>
        </p:nvSpPr>
        <p:spPr>
          <a:xfrm>
            <a:off x="4562856" y="3273552"/>
            <a:ext cx="1773936" cy="722376"/>
          </a:xfrm>
          <a:prstGeom prst="rect">
            <a:avLst/>
          </a:prstGeom>
          <a:noFill/>
          <a:ln/>
        </p:spPr>
        <p:txBody>
          <a:bodyPr wrap="square" lIns="0" tIns="0" rIns="0" bIns="0" rtlCol="0" anchor="ctr"/>
          <a:lstStyle/>
          <a:p>
            <a:pPr indent="0" marL="0">
              <a:buNone/>
            </a:pPr>
            <a:r>
              <a:rPr lang="en-US" sz="4900" b="1" dirty="0">
                <a:solidFill>
                  <a:srgbClr val="A7443C"/>
                </a:solidFill>
                <a:latin typeface="Avenir Next" pitchFamily="34" charset="0"/>
                <a:ea typeface="Avenir Next" pitchFamily="34" charset="-122"/>
                <a:cs typeface="Avenir Next" pitchFamily="34" charset="-120"/>
              </a:rPr>
              <a:t>100</a:t>
            </a:r>
            <a:endParaRPr lang="en-US" sz="4900" dirty="0"/>
          </a:p>
        </p:txBody>
      </p:sp>
      <p:sp>
        <p:nvSpPr>
          <p:cNvPr id="17" name="Text 15"/>
          <p:cNvSpPr/>
          <p:nvPr/>
        </p:nvSpPr>
        <p:spPr>
          <a:xfrm>
            <a:off x="6144768" y="3648456"/>
            <a:ext cx="1472184" cy="246888"/>
          </a:xfrm>
          <a:prstGeom prst="rect">
            <a:avLst/>
          </a:prstGeom>
          <a:noFill/>
          <a:ln/>
        </p:spPr>
        <p:txBody>
          <a:bodyPr wrap="square" lIns="0" tIns="0" rIns="0" bIns="0" rtlCol="0" anchor="ctr"/>
          <a:lstStyle/>
          <a:p>
            <a:pPr indent="0" marL="0">
              <a:buNone/>
            </a:pPr>
            <a:r>
              <a:rPr lang="en-US" sz="1200" dirty="0">
                <a:solidFill>
                  <a:srgbClr val="526574"/>
                </a:solidFill>
                <a:latin typeface="Avenir Next" pitchFamily="34" charset="0"/>
                <a:ea typeface="Avenir Next" pitchFamily="34" charset="-122"/>
                <a:cs typeface="Avenir Next" pitchFamily="34" charset="-120"/>
              </a:rPr>
              <a:t>available units</a:t>
            </a:r>
            <a:endParaRPr lang="en-US" sz="1200" dirty="0"/>
          </a:p>
        </p:txBody>
      </p:sp>
      <p:sp>
        <p:nvSpPr>
          <p:cNvPr id="18" name="Text 16"/>
          <p:cNvSpPr/>
          <p:nvPr/>
        </p:nvSpPr>
        <p:spPr>
          <a:xfrm>
            <a:off x="4590288" y="4270248"/>
            <a:ext cx="2962656" cy="292608"/>
          </a:xfrm>
          <a:prstGeom prst="rect">
            <a:avLst/>
          </a:prstGeom>
          <a:noFill/>
          <a:ln/>
        </p:spPr>
        <p:txBody>
          <a:bodyPr wrap="square" lIns="0" tIns="0" rIns="0" bIns="0" rtlCol="0" anchor="ctr"/>
          <a:lstStyle/>
          <a:p>
            <a:pPr indent="0" marL="0">
              <a:buNone/>
            </a:pPr>
            <a:r>
              <a:rPr lang="en-US" sz="2000" b="1" dirty="0">
                <a:solidFill>
                  <a:srgbClr val="16354A"/>
                </a:solidFill>
                <a:latin typeface="Avenir Next" pitchFamily="34" charset="0"/>
                <a:ea typeface="Avenir Next" pitchFamily="34" charset="-122"/>
                <a:cs typeface="Avenir Next" pitchFamily="34" charset="-120"/>
              </a:rPr>
              <a:t>P50 demand 353.06</a:t>
            </a:r>
            <a:endParaRPr lang="en-US" sz="2000" dirty="0"/>
          </a:p>
        </p:txBody>
      </p:sp>
      <p:sp>
        <p:nvSpPr>
          <p:cNvPr id="19" name="Text 17"/>
          <p:cNvSpPr/>
          <p:nvPr/>
        </p:nvSpPr>
        <p:spPr>
          <a:xfrm>
            <a:off x="4599432" y="4690872"/>
            <a:ext cx="2962656" cy="219456"/>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P10 334.21 / P90 371.90</a:t>
            </a:r>
            <a:endParaRPr lang="en-US" sz="1100" dirty="0"/>
          </a:p>
        </p:txBody>
      </p:sp>
      <p:sp>
        <p:nvSpPr>
          <p:cNvPr id="20" name="Shape 18"/>
          <p:cNvSpPr/>
          <p:nvPr/>
        </p:nvSpPr>
        <p:spPr>
          <a:xfrm>
            <a:off x="8101584" y="2670048"/>
            <a:ext cx="3502152" cy="2523744"/>
          </a:xfrm>
          <a:prstGeom prst="roundRect">
            <a:avLst>
              <a:gd name="adj" fmla="val 4348"/>
            </a:avLst>
          </a:prstGeom>
          <a:solidFill>
            <a:srgbClr val="FFFFFF"/>
          </a:solidFill>
          <a:ln w="12700">
            <a:solidFill>
              <a:srgbClr val="FFFFFF"/>
            </a:solidFill>
            <a:prstDash val="solid"/>
          </a:ln>
        </p:spPr>
      </p:sp>
      <p:sp>
        <p:nvSpPr>
          <p:cNvPr id="21" name="Text 19"/>
          <p:cNvSpPr/>
          <p:nvPr/>
        </p:nvSpPr>
        <p:spPr>
          <a:xfrm>
            <a:off x="8330184" y="2862072"/>
            <a:ext cx="2651760" cy="256032"/>
          </a:xfrm>
          <a:prstGeom prst="rect">
            <a:avLst/>
          </a:prstGeom>
          <a:noFill/>
          <a:ln/>
        </p:spPr>
        <p:txBody>
          <a:bodyPr wrap="square" lIns="0" tIns="0" rIns="0" bIns="0" rtlCol="0" anchor="ctr"/>
          <a:lstStyle/>
          <a:p>
            <a:pPr indent="0" marL="0">
              <a:buNone/>
            </a:pPr>
            <a:r>
              <a:rPr lang="en-US" sz="1200" b="1" spc="110" kern="0" dirty="0">
                <a:solidFill>
                  <a:srgbClr val="007F78"/>
                </a:solidFill>
                <a:latin typeface="Avenir Next" pitchFamily="34" charset="0"/>
                <a:ea typeface="Avenir Next" pitchFamily="34" charset="-122"/>
                <a:cs typeface="Avenir Next" pitchFamily="34" charset="-120"/>
              </a:rPr>
              <a:t>SHARJAH</a:t>
            </a:r>
            <a:endParaRPr lang="en-US" sz="1200" dirty="0"/>
          </a:p>
        </p:txBody>
      </p:sp>
      <p:sp>
        <p:nvSpPr>
          <p:cNvPr id="22" name="Text 20"/>
          <p:cNvSpPr/>
          <p:nvPr/>
        </p:nvSpPr>
        <p:spPr>
          <a:xfrm>
            <a:off x="8311896" y="3273552"/>
            <a:ext cx="1773936" cy="722376"/>
          </a:xfrm>
          <a:prstGeom prst="rect">
            <a:avLst/>
          </a:prstGeom>
          <a:noFill/>
          <a:ln/>
        </p:spPr>
        <p:txBody>
          <a:bodyPr wrap="square" lIns="0" tIns="0" rIns="0" bIns="0" rtlCol="0" anchor="ctr"/>
          <a:lstStyle/>
          <a:p>
            <a:pPr indent="0" marL="0">
              <a:buNone/>
            </a:pPr>
            <a:r>
              <a:rPr lang="en-US" sz="4900" b="1" dirty="0">
                <a:solidFill>
                  <a:srgbClr val="16354A"/>
                </a:solidFill>
                <a:latin typeface="Avenir Next" pitchFamily="34" charset="0"/>
                <a:ea typeface="Avenir Next" pitchFamily="34" charset="-122"/>
                <a:cs typeface="Avenir Next" pitchFamily="34" charset="-120"/>
              </a:rPr>
              <a:t>300</a:t>
            </a:r>
            <a:endParaRPr lang="en-US" sz="4900" dirty="0"/>
          </a:p>
        </p:txBody>
      </p:sp>
      <p:sp>
        <p:nvSpPr>
          <p:cNvPr id="23" name="Text 21"/>
          <p:cNvSpPr/>
          <p:nvPr/>
        </p:nvSpPr>
        <p:spPr>
          <a:xfrm>
            <a:off x="9893808" y="3648456"/>
            <a:ext cx="1472184" cy="246888"/>
          </a:xfrm>
          <a:prstGeom prst="rect">
            <a:avLst/>
          </a:prstGeom>
          <a:noFill/>
          <a:ln/>
        </p:spPr>
        <p:txBody>
          <a:bodyPr wrap="square" lIns="0" tIns="0" rIns="0" bIns="0" rtlCol="0" anchor="ctr"/>
          <a:lstStyle/>
          <a:p>
            <a:pPr indent="0" marL="0">
              <a:buNone/>
            </a:pPr>
            <a:r>
              <a:rPr lang="en-US" sz="1200" dirty="0">
                <a:solidFill>
                  <a:srgbClr val="526574"/>
                </a:solidFill>
                <a:latin typeface="Avenir Next" pitchFamily="34" charset="0"/>
                <a:ea typeface="Avenir Next" pitchFamily="34" charset="-122"/>
                <a:cs typeface="Avenir Next" pitchFamily="34" charset="-120"/>
              </a:rPr>
              <a:t>available units</a:t>
            </a:r>
            <a:endParaRPr lang="en-US" sz="1200" dirty="0"/>
          </a:p>
        </p:txBody>
      </p:sp>
      <p:sp>
        <p:nvSpPr>
          <p:cNvPr id="24" name="Text 22"/>
          <p:cNvSpPr/>
          <p:nvPr/>
        </p:nvSpPr>
        <p:spPr>
          <a:xfrm>
            <a:off x="8339328" y="4270248"/>
            <a:ext cx="2962656" cy="292608"/>
          </a:xfrm>
          <a:prstGeom prst="rect">
            <a:avLst/>
          </a:prstGeom>
          <a:noFill/>
          <a:ln/>
        </p:spPr>
        <p:txBody>
          <a:bodyPr wrap="square" lIns="0" tIns="0" rIns="0" bIns="0" rtlCol="0" anchor="ctr"/>
          <a:lstStyle/>
          <a:p>
            <a:pPr indent="0" marL="0">
              <a:buNone/>
            </a:pPr>
            <a:r>
              <a:rPr lang="en-US" sz="2000" b="1" dirty="0">
                <a:solidFill>
                  <a:srgbClr val="16354A"/>
                </a:solidFill>
                <a:latin typeface="Avenir Next" pitchFamily="34" charset="0"/>
                <a:ea typeface="Avenir Next" pitchFamily="34" charset="-122"/>
                <a:cs typeface="Avenir Next" pitchFamily="34" charset="-120"/>
              </a:rPr>
              <a:t>P50 demand 159.75</a:t>
            </a:r>
            <a:endParaRPr lang="en-US" sz="2000" dirty="0"/>
          </a:p>
        </p:txBody>
      </p:sp>
      <p:sp>
        <p:nvSpPr>
          <p:cNvPr id="25" name="Text 23"/>
          <p:cNvSpPr/>
          <p:nvPr/>
        </p:nvSpPr>
        <p:spPr>
          <a:xfrm>
            <a:off x="8348472" y="4690872"/>
            <a:ext cx="2962656" cy="219456"/>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P10 147.50 / P90 172.00</a:t>
            </a:r>
            <a:endParaRPr lang="en-US" sz="1100" dirty="0"/>
          </a:p>
        </p:txBody>
      </p:sp>
      <p:sp>
        <p:nvSpPr>
          <p:cNvPr id="26" name="Shape 24"/>
          <p:cNvSpPr/>
          <p:nvPr/>
        </p:nvSpPr>
        <p:spPr>
          <a:xfrm>
            <a:off x="594360" y="5468112"/>
            <a:ext cx="11009376" cy="603504"/>
          </a:xfrm>
          <a:prstGeom prst="roundRect">
            <a:avLst>
              <a:gd name="adj" fmla="val 18182"/>
            </a:avLst>
          </a:prstGeom>
          <a:solidFill>
            <a:srgbClr val="007F78"/>
          </a:solidFill>
          <a:ln w="12700">
            <a:solidFill>
              <a:srgbClr val="007F78"/>
            </a:solidFill>
            <a:prstDash val="solid"/>
          </a:ln>
        </p:spPr>
      </p:sp>
      <p:sp>
        <p:nvSpPr>
          <p:cNvPr id="27" name="Text 25"/>
          <p:cNvSpPr/>
          <p:nvPr/>
        </p:nvSpPr>
        <p:spPr>
          <a:xfrm>
            <a:off x="822960" y="5577840"/>
            <a:ext cx="1783080" cy="320040"/>
          </a:xfrm>
          <a:prstGeom prst="rect">
            <a:avLst/>
          </a:prstGeom>
          <a:noFill/>
          <a:ln/>
        </p:spPr>
        <p:txBody>
          <a:bodyPr wrap="square" lIns="0" tIns="0" rIns="0" bIns="0" rtlCol="0" anchor="ctr"/>
          <a:lstStyle/>
          <a:p>
            <a:pPr indent="0" marL="0">
              <a:buNone/>
            </a:pPr>
            <a:r>
              <a:rPr lang="en-US" sz="2300" b="1" dirty="0">
                <a:solidFill>
                  <a:srgbClr val="FFFFFF"/>
                </a:solidFill>
                <a:latin typeface="Avenir Next" pitchFamily="34" charset="0"/>
                <a:ea typeface="Avenir Next" pitchFamily="34" charset="-122"/>
                <a:cs typeface="Avenir Next" pitchFamily="34" charset="-120"/>
              </a:rPr>
              <a:t>234 units</a:t>
            </a:r>
            <a:endParaRPr lang="en-US" sz="2300" dirty="0"/>
          </a:p>
        </p:txBody>
      </p:sp>
      <p:sp>
        <p:nvSpPr>
          <p:cNvPr id="28" name="Shape 26"/>
          <p:cNvSpPr/>
          <p:nvPr/>
        </p:nvSpPr>
        <p:spPr>
          <a:xfrm>
            <a:off x="2743200" y="5687568"/>
            <a:ext cx="640080" cy="173736"/>
          </a:xfrm>
          <a:prstGeom prst="rightArrow">
            <a:avLst/>
          </a:prstGeom>
          <a:solidFill>
            <a:srgbClr val="65D9BE"/>
          </a:solidFill>
          <a:ln w="12700">
            <a:solidFill>
              <a:srgbClr val="65D9BE"/>
            </a:solidFill>
            <a:prstDash val="solid"/>
          </a:ln>
        </p:spPr>
      </p:sp>
      <p:sp>
        <p:nvSpPr>
          <p:cNvPr id="29" name="Text 27"/>
          <p:cNvSpPr/>
          <p:nvPr/>
        </p:nvSpPr>
        <p:spPr>
          <a:xfrm>
            <a:off x="3648456" y="5605272"/>
            <a:ext cx="2843784" cy="283464"/>
          </a:xfrm>
          <a:prstGeom prst="rect">
            <a:avLst/>
          </a:prstGeom>
          <a:noFill/>
          <a:ln/>
        </p:spPr>
        <p:txBody>
          <a:bodyPr wrap="square" lIns="0" tIns="0" rIns="0" bIns="0" rtlCol="0" anchor="ctr"/>
          <a:lstStyle/>
          <a:p>
            <a:pPr indent="0" marL="0">
              <a:buNone/>
            </a:pPr>
            <a:r>
              <a:rPr lang="en-US" sz="1900" b="1" dirty="0">
                <a:solidFill>
                  <a:srgbClr val="FFFFFF"/>
                </a:solidFill>
                <a:latin typeface="Avenir Next" pitchFamily="34" charset="0"/>
                <a:ea typeface="Avenir Next" pitchFamily="34" charset="-122"/>
                <a:cs typeface="Avenir Next" pitchFamily="34" charset="-120"/>
              </a:rPr>
              <a:t>Dubai to Abu Dhabi</a:t>
            </a:r>
            <a:endParaRPr lang="en-US" sz="1900" dirty="0"/>
          </a:p>
        </p:txBody>
      </p:sp>
      <p:sp>
        <p:nvSpPr>
          <p:cNvPr id="30" name="Text 28"/>
          <p:cNvSpPr/>
          <p:nvPr/>
        </p:nvSpPr>
        <p:spPr>
          <a:xfrm>
            <a:off x="6684264" y="5632704"/>
            <a:ext cx="4645152" cy="237744"/>
          </a:xfrm>
          <a:prstGeom prst="rect">
            <a:avLst/>
          </a:prstGeom>
          <a:noFill/>
          <a:ln/>
        </p:spPr>
        <p:txBody>
          <a:bodyPr wrap="square" lIns="0" tIns="0" rIns="0" bIns="0" rtlCol="0" anchor="ctr"/>
          <a:lstStyle/>
          <a:p>
            <a:pPr indent="0" marL="0">
              <a:buNone/>
            </a:pPr>
            <a:r>
              <a:rPr lang="en-US" sz="1400" dirty="0">
                <a:solidFill>
                  <a:srgbClr val="FFFFFF"/>
                </a:solidFill>
                <a:latin typeface="Avenir Next" pitchFamily="34" charset="0"/>
                <a:ea typeface="Avenir Next" pitchFamily="34" charset="-122"/>
                <a:cs typeface="Avenir Next" pitchFamily="34" charset="-120"/>
              </a:rPr>
              <a:t>2-day lead | AED 171.80 transfer cost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ILLUSTRATIVE VALUE</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A measurable case for better allocation.</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Synthetic 30-day simulation | Same cleaned forecast, before and after all proposed transfers</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Source: eval_report.md, normal-plan impact. Proposals are not executed; these are modeled estimates, not realised savings.</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06</a:t>
            </a:r>
            <a:endParaRPr lang="en-US" sz="1100" dirty="0"/>
          </a:p>
        </p:txBody>
      </p:sp>
      <p:sp>
        <p:nvSpPr>
          <p:cNvPr id="8" name="Shape 6"/>
          <p:cNvSpPr/>
          <p:nvPr/>
        </p:nvSpPr>
        <p:spPr>
          <a:xfrm>
            <a:off x="594360" y="2734056"/>
            <a:ext cx="6409944" cy="3337560"/>
          </a:xfrm>
          <a:prstGeom prst="roundRect">
            <a:avLst>
              <a:gd name="adj" fmla="val 3288"/>
            </a:avLst>
          </a:prstGeom>
          <a:solidFill>
            <a:srgbClr val="FFFFFF"/>
          </a:solidFill>
          <a:ln w="12700">
            <a:solidFill>
              <a:srgbClr val="FFFFFF"/>
            </a:solidFill>
            <a:prstDash val="solid"/>
          </a:ln>
        </p:spPr>
      </p:sp>
      <p:sp>
        <p:nvSpPr>
          <p:cNvPr id="9" name="Text 7"/>
          <p:cNvSpPr/>
          <p:nvPr/>
        </p:nvSpPr>
        <p:spPr>
          <a:xfrm>
            <a:off x="877824" y="2971800"/>
            <a:ext cx="5093208" cy="246888"/>
          </a:xfrm>
          <a:prstGeom prst="rect">
            <a:avLst/>
          </a:prstGeom>
          <a:noFill/>
          <a:ln/>
        </p:spPr>
        <p:txBody>
          <a:bodyPr wrap="square" lIns="0" tIns="0" rIns="0" bIns="0" rtlCol="0" anchor="ctr"/>
          <a:lstStyle/>
          <a:p>
            <a:pPr indent="0" marL="0">
              <a:buNone/>
            </a:pPr>
            <a:r>
              <a:rPr lang="en-US" sz="1200" b="1" dirty="0">
                <a:solidFill>
                  <a:srgbClr val="526574"/>
                </a:solidFill>
                <a:latin typeface="Avenir Next" pitchFamily="34" charset="0"/>
                <a:ea typeface="Avenir Next" pitchFamily="34" charset="-122"/>
                <a:cs typeface="Avenir Next" pitchFamily="34" charset="-120"/>
              </a:rPr>
              <a:t>PROJECTED SHORTAGE UNITS</a:t>
            </a:r>
            <a:endParaRPr lang="en-US" sz="1200" dirty="0"/>
          </a:p>
        </p:txBody>
      </p:sp>
      <p:sp>
        <p:nvSpPr>
          <p:cNvPr id="10" name="Text 8"/>
          <p:cNvSpPr/>
          <p:nvPr/>
        </p:nvSpPr>
        <p:spPr>
          <a:xfrm>
            <a:off x="896112" y="3639312"/>
            <a:ext cx="1600200" cy="283464"/>
          </a:xfrm>
          <a:prstGeom prst="rect">
            <a:avLst/>
          </a:prstGeom>
          <a:noFill/>
          <a:ln/>
        </p:spPr>
        <p:txBody>
          <a:bodyPr wrap="square" lIns="0" tIns="0" rIns="0" bIns="0" rtlCol="0" anchor="ctr"/>
          <a:lstStyle/>
          <a:p>
            <a:pPr indent="0" marL="0">
              <a:buNone/>
            </a:pPr>
            <a:r>
              <a:rPr lang="en-US" sz="1500" b="1" dirty="0">
                <a:solidFill>
                  <a:srgbClr val="16354A"/>
                </a:solidFill>
                <a:latin typeface="Avenir Next" pitchFamily="34" charset="0"/>
                <a:ea typeface="Avenir Next" pitchFamily="34" charset="-122"/>
                <a:cs typeface="Avenir Next" pitchFamily="34" charset="-120"/>
              </a:rPr>
              <a:t>No transfers</a:t>
            </a:r>
            <a:endParaRPr lang="en-US" sz="1500" dirty="0"/>
          </a:p>
        </p:txBody>
      </p:sp>
      <p:sp>
        <p:nvSpPr>
          <p:cNvPr id="11" name="Shape 9"/>
          <p:cNvSpPr/>
          <p:nvPr/>
        </p:nvSpPr>
        <p:spPr>
          <a:xfrm>
            <a:off x="2688336" y="3611880"/>
            <a:ext cx="3300984" cy="393192"/>
          </a:xfrm>
          <a:prstGeom prst="rect">
            <a:avLst>
              <a:gd name="adj" fmla="val 27907"/>
            </a:avLst>
          </a:prstGeom>
          <a:solidFill>
            <a:srgbClr val="102A43"/>
          </a:solidFill>
          <a:ln w="12700">
            <a:solidFill>
              <a:srgbClr val="102A43"/>
            </a:solidFill>
            <a:prstDash val="solid"/>
          </a:ln>
        </p:spPr>
      </p:sp>
      <p:sp>
        <p:nvSpPr>
          <p:cNvPr id="12" name="Text 10"/>
          <p:cNvSpPr/>
          <p:nvPr/>
        </p:nvSpPr>
        <p:spPr>
          <a:xfrm>
            <a:off x="6126480" y="3657600"/>
            <a:ext cx="640080" cy="228600"/>
          </a:xfrm>
          <a:prstGeom prst="rect">
            <a:avLst/>
          </a:prstGeom>
          <a:noFill/>
          <a:ln/>
        </p:spPr>
        <p:txBody>
          <a:bodyPr wrap="square" lIns="0" tIns="0" rIns="0" bIns="0" rtlCol="0" anchor="ctr"/>
          <a:lstStyle/>
          <a:p>
            <a:pPr indent="0" marL="0">
              <a:buNone/>
            </a:pPr>
            <a:r>
              <a:rPr lang="en-US" sz="1200" b="1" dirty="0">
                <a:solidFill>
                  <a:srgbClr val="16354A"/>
                </a:solidFill>
                <a:latin typeface="Avenir Next" pitchFamily="34" charset="0"/>
                <a:ea typeface="Avenir Next" pitchFamily="34" charset="-122"/>
                <a:cs typeface="Avenir Next" pitchFamily="34" charset="-120"/>
              </a:rPr>
              <a:t>452.16</a:t>
            </a:r>
            <a:endParaRPr lang="en-US" sz="1200" dirty="0"/>
          </a:p>
        </p:txBody>
      </p:sp>
      <p:sp>
        <p:nvSpPr>
          <p:cNvPr id="13" name="Text 11"/>
          <p:cNvSpPr/>
          <p:nvPr/>
        </p:nvSpPr>
        <p:spPr>
          <a:xfrm>
            <a:off x="896112" y="4398264"/>
            <a:ext cx="1682496" cy="283464"/>
          </a:xfrm>
          <a:prstGeom prst="rect">
            <a:avLst/>
          </a:prstGeom>
          <a:noFill/>
          <a:ln/>
        </p:spPr>
        <p:txBody>
          <a:bodyPr wrap="square" lIns="0" tIns="0" rIns="0" bIns="0" rtlCol="0" anchor="ctr"/>
          <a:lstStyle/>
          <a:p>
            <a:pPr indent="0" marL="0">
              <a:buNone/>
            </a:pPr>
            <a:r>
              <a:rPr lang="en-US" sz="1500" b="1" dirty="0">
                <a:solidFill>
                  <a:srgbClr val="16354A"/>
                </a:solidFill>
                <a:latin typeface="Avenir Next" pitchFamily="34" charset="0"/>
                <a:ea typeface="Avenir Next" pitchFamily="34" charset="-122"/>
                <a:cs typeface="Avenir Next" pitchFamily="34" charset="-120"/>
              </a:rPr>
              <a:t>With proposals</a:t>
            </a:r>
            <a:endParaRPr lang="en-US" sz="1500" dirty="0"/>
          </a:p>
        </p:txBody>
      </p:sp>
      <p:sp>
        <p:nvSpPr>
          <p:cNvPr id="14" name="Shape 12"/>
          <p:cNvSpPr/>
          <p:nvPr/>
        </p:nvSpPr>
        <p:spPr>
          <a:xfrm>
            <a:off x="2688336" y="4370832"/>
            <a:ext cx="704496" cy="393192"/>
          </a:xfrm>
          <a:prstGeom prst="rect">
            <a:avLst>
              <a:gd name="adj" fmla="val 27907"/>
            </a:avLst>
          </a:prstGeom>
          <a:solidFill>
            <a:srgbClr val="007F78"/>
          </a:solidFill>
          <a:ln w="12700">
            <a:solidFill>
              <a:srgbClr val="007F78"/>
            </a:solidFill>
            <a:prstDash val="solid"/>
          </a:ln>
        </p:spPr>
      </p:sp>
      <p:sp>
        <p:nvSpPr>
          <p:cNvPr id="15" name="Text 13"/>
          <p:cNvSpPr/>
          <p:nvPr/>
        </p:nvSpPr>
        <p:spPr>
          <a:xfrm>
            <a:off x="3602736" y="4416552"/>
            <a:ext cx="822960" cy="228600"/>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96.50</a:t>
            </a:r>
            <a:endParaRPr lang="en-US" sz="1200" dirty="0"/>
          </a:p>
        </p:txBody>
      </p:sp>
      <p:sp>
        <p:nvSpPr>
          <p:cNvPr id="16" name="Text 14"/>
          <p:cNvSpPr/>
          <p:nvPr/>
        </p:nvSpPr>
        <p:spPr>
          <a:xfrm>
            <a:off x="896112" y="5321808"/>
            <a:ext cx="5623560" cy="301752"/>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Same network. Same demand model. Different allocation.</a:t>
            </a:r>
            <a:endParaRPr lang="en-US" sz="1400" dirty="0"/>
          </a:p>
        </p:txBody>
      </p:sp>
      <p:sp>
        <p:nvSpPr>
          <p:cNvPr id="17" name="Shape 15"/>
          <p:cNvSpPr/>
          <p:nvPr/>
        </p:nvSpPr>
        <p:spPr>
          <a:xfrm>
            <a:off x="7315200" y="2734056"/>
            <a:ext cx="4288536" cy="1499616"/>
          </a:xfrm>
          <a:prstGeom prst="roundRect">
            <a:avLst>
              <a:gd name="adj" fmla="val 7317"/>
            </a:avLst>
          </a:prstGeom>
          <a:solidFill>
            <a:srgbClr val="007F78"/>
          </a:solidFill>
          <a:ln w="12700">
            <a:solidFill>
              <a:srgbClr val="007F78"/>
            </a:solidFill>
            <a:prstDash val="solid"/>
          </a:ln>
        </p:spPr>
      </p:sp>
      <p:sp>
        <p:nvSpPr>
          <p:cNvPr id="18" name="Text 16"/>
          <p:cNvSpPr/>
          <p:nvPr/>
        </p:nvSpPr>
        <p:spPr>
          <a:xfrm>
            <a:off x="7598664" y="2871216"/>
            <a:ext cx="3438144" cy="722376"/>
          </a:xfrm>
          <a:prstGeom prst="rect">
            <a:avLst/>
          </a:prstGeom>
          <a:noFill/>
          <a:ln/>
        </p:spPr>
        <p:txBody>
          <a:bodyPr wrap="square" lIns="0" tIns="0" rIns="0" bIns="0" rtlCol="0" anchor="ctr"/>
          <a:lstStyle/>
          <a:p>
            <a:pPr indent="0" marL="0">
              <a:buNone/>
            </a:pPr>
            <a:r>
              <a:rPr lang="en-US" sz="4700" b="1" dirty="0">
                <a:solidFill>
                  <a:srgbClr val="FFFFFF"/>
                </a:solidFill>
                <a:latin typeface="Avenir Next" pitchFamily="34" charset="0"/>
                <a:ea typeface="Avenir Next" pitchFamily="34" charset="-122"/>
                <a:cs typeface="Avenir Next" pitchFamily="34" charset="-120"/>
              </a:rPr>
              <a:t>78.7%</a:t>
            </a:r>
            <a:endParaRPr lang="en-US" sz="4700" dirty="0"/>
          </a:p>
        </p:txBody>
      </p:sp>
      <p:sp>
        <p:nvSpPr>
          <p:cNvPr id="19" name="Text 17"/>
          <p:cNvSpPr/>
          <p:nvPr/>
        </p:nvSpPr>
        <p:spPr>
          <a:xfrm>
            <a:off x="7626096" y="3730752"/>
            <a:ext cx="3621024" cy="246888"/>
          </a:xfrm>
          <a:prstGeom prst="rect">
            <a:avLst/>
          </a:prstGeom>
          <a:noFill/>
          <a:ln/>
        </p:spPr>
        <p:txBody>
          <a:bodyPr wrap="square" lIns="0" tIns="0" rIns="0" bIns="0" rtlCol="0" anchor="ctr"/>
          <a:lstStyle/>
          <a:p>
            <a:pPr indent="0" marL="0">
              <a:buNone/>
            </a:pPr>
            <a:r>
              <a:rPr lang="en-US" sz="1500" dirty="0">
                <a:solidFill>
                  <a:srgbClr val="FFFFFF"/>
                </a:solidFill>
                <a:latin typeface="Avenir Next" pitchFamily="34" charset="0"/>
                <a:ea typeface="Avenir Next" pitchFamily="34" charset="-122"/>
                <a:cs typeface="Avenir Next" pitchFamily="34" charset="-120"/>
              </a:rPr>
              <a:t>fewer projected shortage units</a:t>
            </a:r>
            <a:endParaRPr lang="en-US" sz="1500" dirty="0"/>
          </a:p>
        </p:txBody>
      </p:sp>
      <p:sp>
        <p:nvSpPr>
          <p:cNvPr id="20" name="Shape 18"/>
          <p:cNvSpPr/>
          <p:nvPr/>
        </p:nvSpPr>
        <p:spPr>
          <a:xfrm>
            <a:off x="7315200" y="4526280"/>
            <a:ext cx="4288536" cy="1545336"/>
          </a:xfrm>
          <a:prstGeom prst="roundRect">
            <a:avLst>
              <a:gd name="adj" fmla="val 7101"/>
            </a:avLst>
          </a:prstGeom>
          <a:solidFill>
            <a:srgbClr val="102A43"/>
          </a:solidFill>
          <a:ln w="12700">
            <a:solidFill>
              <a:srgbClr val="102A43"/>
            </a:solidFill>
            <a:prstDash val="solid"/>
          </a:ln>
        </p:spPr>
      </p:sp>
      <p:sp>
        <p:nvSpPr>
          <p:cNvPr id="21" name="Text 19"/>
          <p:cNvSpPr/>
          <p:nvPr/>
        </p:nvSpPr>
        <p:spPr>
          <a:xfrm>
            <a:off x="7598664" y="4700016"/>
            <a:ext cx="3703320" cy="566928"/>
          </a:xfrm>
          <a:prstGeom prst="rect">
            <a:avLst/>
          </a:prstGeom>
          <a:noFill/>
          <a:ln/>
        </p:spPr>
        <p:txBody>
          <a:bodyPr wrap="square" lIns="0" tIns="0" rIns="0" bIns="0" rtlCol="0" anchor="ctr"/>
          <a:lstStyle/>
          <a:p>
            <a:pPr indent="0" marL="0">
              <a:buNone/>
            </a:pPr>
            <a:r>
              <a:rPr lang="en-US" sz="3100" b="1" dirty="0">
                <a:solidFill>
                  <a:srgbClr val="FFFFFF"/>
                </a:solidFill>
                <a:latin typeface="Avenir Next" pitchFamily="34" charset="0"/>
                <a:ea typeface="Avenir Next" pitchFamily="34" charset="-122"/>
                <a:cs typeface="Avenir Next" pitchFamily="34" charset="-120"/>
              </a:rPr>
              <a:t>AED 5,911.64</a:t>
            </a:r>
            <a:endParaRPr lang="en-US" sz="3100" dirty="0"/>
          </a:p>
        </p:txBody>
      </p:sp>
      <p:sp>
        <p:nvSpPr>
          <p:cNvPr id="22" name="Text 20"/>
          <p:cNvSpPr/>
          <p:nvPr/>
        </p:nvSpPr>
        <p:spPr>
          <a:xfrm>
            <a:off x="7616952" y="5404104"/>
            <a:ext cx="3675888" cy="246888"/>
          </a:xfrm>
          <a:prstGeom prst="rect">
            <a:avLst/>
          </a:prstGeom>
          <a:noFill/>
          <a:ln/>
        </p:spPr>
        <p:txBody>
          <a:bodyPr wrap="square" lIns="0" tIns="0" rIns="0" bIns="0" rtlCol="0" anchor="ctr"/>
          <a:lstStyle/>
          <a:p>
            <a:pPr indent="0" marL="0">
              <a:buNone/>
            </a:pPr>
            <a:r>
              <a:rPr lang="en-US" sz="1300" dirty="0">
                <a:solidFill>
                  <a:srgbClr val="FFFFFF"/>
                </a:solidFill>
                <a:latin typeface="Avenir Next" pitchFamily="34" charset="0"/>
                <a:ea typeface="Avenir Next" pitchFamily="34" charset="-122"/>
                <a:cs typeface="Avenir Next" pitchFamily="34" charset="-120"/>
              </a:rPr>
              <a:t>Net benefit after transfer costs</a:t>
            </a:r>
            <a:endParaRPr lang="en-US" sz="1300" dirty="0"/>
          </a:p>
        </p:txBody>
      </p:sp>
      <p:sp>
        <p:nvSpPr>
          <p:cNvPr id="23" name="Text 21"/>
          <p:cNvSpPr/>
          <p:nvPr/>
        </p:nvSpPr>
        <p:spPr>
          <a:xfrm>
            <a:off x="7616952" y="5742432"/>
            <a:ext cx="3675888" cy="210312"/>
          </a:xfrm>
          <a:prstGeom prst="rect">
            <a:avLst/>
          </a:prstGeom>
          <a:noFill/>
          <a:ln/>
        </p:spPr>
        <p:txBody>
          <a:bodyPr wrap="square" lIns="0" tIns="0" rIns="0" bIns="0" rtlCol="0" anchor="ctr"/>
          <a:lstStyle/>
          <a:p>
            <a:pPr indent="0" marL="0">
              <a:buNone/>
            </a:pPr>
            <a:r>
              <a:rPr lang="en-US" sz="1150" b="1" dirty="0">
                <a:solidFill>
                  <a:srgbClr val="65D9BE"/>
                </a:solidFill>
                <a:latin typeface="Avenir Next" pitchFamily="34" charset="0"/>
                <a:ea typeface="Avenir Next" pitchFamily="34" charset="-122"/>
                <a:cs typeface="Avenir Next" pitchFamily="34" charset="-120"/>
              </a:rPr>
              <a:t>MODELLED, NOT REALISED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TRUST &amp; DIFFERENTIATION</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Designed to say “no” when the economics do.</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The product is an accountable decision layer—not an autonomous stock-moving agent.</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07</a:t>
            </a:r>
            <a:endParaRPr lang="en-US" sz="1100" dirty="0"/>
          </a:p>
        </p:txBody>
      </p:sp>
      <p:sp>
        <p:nvSpPr>
          <p:cNvPr id="8" name="Shape 6"/>
          <p:cNvSpPr/>
          <p:nvPr/>
        </p:nvSpPr>
        <p:spPr>
          <a:xfrm>
            <a:off x="594360" y="2724912"/>
            <a:ext cx="4590288" cy="3310128"/>
          </a:xfrm>
          <a:prstGeom prst="roundRect">
            <a:avLst>
              <a:gd name="adj" fmla="val 3315"/>
            </a:avLst>
          </a:prstGeom>
          <a:solidFill>
            <a:srgbClr val="F6E9E5"/>
          </a:solidFill>
          <a:ln w="12700">
            <a:solidFill>
              <a:srgbClr val="F6E9E5"/>
            </a:solidFill>
            <a:prstDash val="solid"/>
          </a:ln>
        </p:spPr>
      </p:sp>
      <p:sp>
        <p:nvSpPr>
          <p:cNvPr id="9" name="Shape 7"/>
          <p:cNvSpPr/>
          <p:nvPr/>
        </p:nvSpPr>
        <p:spPr>
          <a:xfrm>
            <a:off x="841248" y="2962656"/>
            <a:ext cx="3621024" cy="310896"/>
          </a:xfrm>
          <a:prstGeom prst="roundRect">
            <a:avLst>
              <a:gd name="adj" fmla="val 35294"/>
            </a:avLst>
          </a:prstGeom>
          <a:solidFill>
            <a:srgbClr val="EDD1CA"/>
          </a:solidFill>
          <a:ln w="12700">
            <a:solidFill>
              <a:srgbClr val="EDD1CA"/>
            </a:solidFill>
            <a:prstDash val="solid"/>
          </a:ln>
        </p:spPr>
      </p:sp>
      <p:sp>
        <p:nvSpPr>
          <p:cNvPr id="10" name="Text 8"/>
          <p:cNvSpPr/>
          <p:nvPr/>
        </p:nvSpPr>
        <p:spPr>
          <a:xfrm>
            <a:off x="950976" y="2962656"/>
            <a:ext cx="3401568" cy="310896"/>
          </a:xfrm>
          <a:prstGeom prst="rect">
            <a:avLst/>
          </a:prstGeom>
          <a:noFill/>
          <a:ln/>
        </p:spPr>
        <p:txBody>
          <a:bodyPr wrap="square" lIns="0" tIns="0" rIns="0" bIns="0" rtlCol="0" anchor="ctr"/>
          <a:lstStyle/>
          <a:p>
            <a:pPr indent="0" marL="0">
              <a:buNone/>
            </a:pPr>
            <a:r>
              <a:rPr lang="en-US" sz="1050" b="1" dirty="0">
                <a:solidFill>
                  <a:srgbClr val="A7443C"/>
                </a:solidFill>
                <a:latin typeface="Avenir Next" pitchFamily="34" charset="0"/>
                <a:ea typeface="Avenir Next" pitchFamily="34" charset="-122"/>
                <a:cs typeface="Avenir Next" pitchFamily="34" charset="-120"/>
              </a:rPr>
              <a:t>REJECTED / LOW-MARGIN TRANSFER</a:t>
            </a:r>
            <a:endParaRPr lang="en-US" sz="1050" dirty="0"/>
          </a:p>
        </p:txBody>
      </p:sp>
      <p:sp>
        <p:nvSpPr>
          <p:cNvPr id="11" name="Text 9"/>
          <p:cNvSpPr/>
          <p:nvPr/>
        </p:nvSpPr>
        <p:spPr>
          <a:xfrm>
            <a:off x="886968" y="3602736"/>
            <a:ext cx="2532888" cy="539496"/>
          </a:xfrm>
          <a:prstGeom prst="rect">
            <a:avLst/>
          </a:prstGeom>
          <a:noFill/>
          <a:ln/>
        </p:spPr>
        <p:txBody>
          <a:bodyPr wrap="square" lIns="0" tIns="0" rIns="0" bIns="0" rtlCol="0" anchor="ctr"/>
          <a:lstStyle/>
          <a:p>
            <a:pPr indent="0" marL="0">
              <a:buNone/>
            </a:pPr>
            <a:r>
              <a:rPr lang="en-US" sz="3100" b="1" dirty="0">
                <a:solidFill>
                  <a:srgbClr val="16354A"/>
                </a:solidFill>
                <a:latin typeface="Avenir Next" pitchFamily="34" charset="0"/>
                <a:ea typeface="Avenir Next" pitchFamily="34" charset="-122"/>
                <a:cs typeface="Avenir Next" pitchFamily="34" charset="-120"/>
              </a:rPr>
              <a:t>AED 19.06</a:t>
            </a:r>
            <a:endParaRPr lang="en-US" sz="3100" dirty="0"/>
          </a:p>
        </p:txBody>
      </p:sp>
      <p:sp>
        <p:nvSpPr>
          <p:cNvPr id="12" name="Text 10"/>
          <p:cNvSpPr/>
          <p:nvPr/>
        </p:nvSpPr>
        <p:spPr>
          <a:xfrm>
            <a:off x="3300984" y="3794760"/>
            <a:ext cx="1554480" cy="237744"/>
          </a:xfrm>
          <a:prstGeom prst="rect">
            <a:avLst/>
          </a:prstGeom>
          <a:noFill/>
          <a:ln/>
        </p:spPr>
        <p:txBody>
          <a:bodyPr wrap="square" lIns="0" tIns="0" rIns="0" bIns="0" rtlCol="0" anchor="ctr"/>
          <a:lstStyle/>
          <a:p>
            <a:pPr indent="0" marL="0">
              <a:buNone/>
            </a:pPr>
            <a:r>
              <a:rPr lang="en-US" sz="1200" dirty="0">
                <a:solidFill>
                  <a:srgbClr val="526574"/>
                </a:solidFill>
                <a:latin typeface="Avenir Next" pitchFamily="34" charset="0"/>
                <a:ea typeface="Avenir Next" pitchFamily="34" charset="-122"/>
                <a:cs typeface="Avenir Next" pitchFamily="34" charset="-120"/>
              </a:rPr>
              <a:t>expected benefit</a:t>
            </a:r>
            <a:endParaRPr lang="en-US" sz="1200" dirty="0"/>
          </a:p>
        </p:txBody>
      </p:sp>
      <p:sp>
        <p:nvSpPr>
          <p:cNvPr id="13" name="Text 11"/>
          <p:cNvSpPr/>
          <p:nvPr/>
        </p:nvSpPr>
        <p:spPr>
          <a:xfrm>
            <a:off x="886968" y="4389120"/>
            <a:ext cx="2688336" cy="521208"/>
          </a:xfrm>
          <a:prstGeom prst="rect">
            <a:avLst/>
          </a:prstGeom>
          <a:noFill/>
          <a:ln/>
        </p:spPr>
        <p:txBody>
          <a:bodyPr wrap="square" lIns="0" tIns="0" rIns="0" bIns="0" rtlCol="0" anchor="ctr"/>
          <a:lstStyle/>
          <a:p>
            <a:pPr indent="0" marL="0">
              <a:buNone/>
            </a:pPr>
            <a:r>
              <a:rPr lang="en-US" sz="3100" b="1" dirty="0">
                <a:solidFill>
                  <a:srgbClr val="A7443C"/>
                </a:solidFill>
                <a:latin typeface="Avenir Next" pitchFamily="34" charset="0"/>
                <a:ea typeface="Avenir Next" pitchFamily="34" charset="-122"/>
                <a:cs typeface="Avenir Next" pitchFamily="34" charset="-120"/>
              </a:rPr>
              <a:t>AED 231.80</a:t>
            </a:r>
            <a:endParaRPr lang="en-US" sz="3100" dirty="0"/>
          </a:p>
        </p:txBody>
      </p:sp>
      <p:sp>
        <p:nvSpPr>
          <p:cNvPr id="14" name="Text 12"/>
          <p:cNvSpPr/>
          <p:nvPr/>
        </p:nvSpPr>
        <p:spPr>
          <a:xfrm>
            <a:off x="3538728" y="4572000"/>
            <a:ext cx="1325880" cy="237744"/>
          </a:xfrm>
          <a:prstGeom prst="rect">
            <a:avLst/>
          </a:prstGeom>
          <a:noFill/>
          <a:ln/>
        </p:spPr>
        <p:txBody>
          <a:bodyPr wrap="square" lIns="0" tIns="0" rIns="0" bIns="0" rtlCol="0" anchor="ctr"/>
          <a:lstStyle/>
          <a:p>
            <a:pPr indent="0" marL="0">
              <a:buNone/>
            </a:pPr>
            <a:r>
              <a:rPr lang="en-US" sz="1200" dirty="0">
                <a:solidFill>
                  <a:srgbClr val="526574"/>
                </a:solidFill>
                <a:latin typeface="Avenir Next" pitchFamily="34" charset="0"/>
                <a:ea typeface="Avenir Next" pitchFamily="34" charset="-122"/>
                <a:cs typeface="Avenir Next" pitchFamily="34" charset="-120"/>
              </a:rPr>
              <a:t>transfer cost</a:t>
            </a:r>
            <a:endParaRPr lang="en-US" sz="1200" dirty="0"/>
          </a:p>
        </p:txBody>
      </p:sp>
      <p:sp>
        <p:nvSpPr>
          <p:cNvPr id="15" name="Text 13"/>
          <p:cNvSpPr/>
          <p:nvPr/>
        </p:nvSpPr>
        <p:spPr>
          <a:xfrm>
            <a:off x="896112" y="5367528"/>
            <a:ext cx="3904488" cy="356616"/>
          </a:xfrm>
          <a:prstGeom prst="rect">
            <a:avLst/>
          </a:prstGeom>
          <a:noFill/>
          <a:ln/>
        </p:spPr>
        <p:txBody>
          <a:bodyPr wrap="square" lIns="0" tIns="0" rIns="0" bIns="0" rtlCol="0" anchor="ctr"/>
          <a:lstStyle/>
          <a:p>
            <a:pPr indent="0" marL="0">
              <a:buNone/>
            </a:pPr>
            <a:r>
              <a:rPr lang="en-US" sz="1700" b="1" dirty="0">
                <a:solidFill>
                  <a:srgbClr val="A7443C"/>
                </a:solidFill>
                <a:latin typeface="Avenir Next" pitchFamily="34" charset="0"/>
                <a:ea typeface="Avenir Next" pitchFamily="34" charset="-122"/>
                <a:cs typeface="Avenir Next" pitchFamily="34" charset="-120"/>
              </a:rPr>
              <a:t>Net: AED −212.74. Reject transfer.</a:t>
            </a:r>
            <a:endParaRPr lang="en-US" sz="1700" dirty="0"/>
          </a:p>
        </p:txBody>
      </p:sp>
      <p:sp>
        <p:nvSpPr>
          <p:cNvPr id="16" name="Shape 14"/>
          <p:cNvSpPr/>
          <p:nvPr/>
        </p:nvSpPr>
        <p:spPr>
          <a:xfrm>
            <a:off x="5532120" y="2862072"/>
            <a:ext cx="393192" cy="393192"/>
          </a:xfrm>
          <a:prstGeom prst="ellipse">
            <a:avLst/>
          </a:prstGeom>
          <a:solidFill>
            <a:srgbClr val="007F78"/>
          </a:solidFill>
          <a:ln w="12700">
            <a:solidFill>
              <a:srgbClr val="007F78"/>
            </a:solidFill>
            <a:prstDash val="solid"/>
          </a:ln>
        </p:spPr>
      </p:sp>
      <p:sp>
        <p:nvSpPr>
          <p:cNvPr id="17" name="Text 15"/>
          <p:cNvSpPr/>
          <p:nvPr/>
        </p:nvSpPr>
        <p:spPr>
          <a:xfrm>
            <a:off x="5532120" y="2862072"/>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1</a:t>
            </a:r>
            <a:endParaRPr lang="en-US" sz="1300" dirty="0"/>
          </a:p>
        </p:txBody>
      </p:sp>
      <p:sp>
        <p:nvSpPr>
          <p:cNvPr id="18" name="Text 16"/>
          <p:cNvSpPr/>
          <p:nvPr/>
        </p:nvSpPr>
        <p:spPr>
          <a:xfrm>
            <a:off x="6190488" y="2770632"/>
            <a:ext cx="5020056" cy="411480"/>
          </a:xfrm>
          <a:prstGeom prst="rect">
            <a:avLst/>
          </a:prstGeom>
          <a:noFill/>
          <a:ln/>
        </p:spPr>
        <p:txBody>
          <a:bodyPr wrap="square" lIns="0" tIns="0" rIns="0" bIns="0" rtlCol="0" anchor="ctr"/>
          <a:lstStyle/>
          <a:p>
            <a:pPr indent="0" marL="0">
              <a:buNone/>
            </a:pPr>
            <a:r>
              <a:rPr lang="en-US" sz="2200" b="1" dirty="0">
                <a:solidFill>
                  <a:srgbClr val="16354A"/>
                </a:solidFill>
                <a:latin typeface="Avenir Next" pitchFamily="34" charset="0"/>
                <a:ea typeface="Avenir Next" pitchFamily="34" charset="-122"/>
                <a:cs typeface="Avenir Next" pitchFamily="34" charset="-120"/>
              </a:rPr>
              <a:t>Scoped events</a:t>
            </a:r>
            <a:endParaRPr lang="en-US" sz="2200" dirty="0"/>
          </a:p>
        </p:txBody>
      </p:sp>
      <p:sp>
        <p:nvSpPr>
          <p:cNvPr id="19" name="Text 17"/>
          <p:cNvSpPr/>
          <p:nvPr/>
        </p:nvSpPr>
        <p:spPr>
          <a:xfrm>
            <a:off x="6217920" y="3328416"/>
            <a:ext cx="4956048"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Only listed products and matching inbound routes are affected.</a:t>
            </a:r>
            <a:endParaRPr lang="en-US" sz="1500" dirty="0"/>
          </a:p>
        </p:txBody>
      </p:sp>
      <p:sp>
        <p:nvSpPr>
          <p:cNvPr id="20" name="Shape 18"/>
          <p:cNvSpPr/>
          <p:nvPr/>
        </p:nvSpPr>
        <p:spPr>
          <a:xfrm>
            <a:off x="5532120" y="4005072"/>
            <a:ext cx="393192" cy="393192"/>
          </a:xfrm>
          <a:prstGeom prst="ellipse">
            <a:avLst/>
          </a:prstGeom>
          <a:solidFill>
            <a:srgbClr val="007F78"/>
          </a:solidFill>
          <a:ln w="12700">
            <a:solidFill>
              <a:srgbClr val="007F78"/>
            </a:solidFill>
            <a:prstDash val="solid"/>
          </a:ln>
        </p:spPr>
      </p:sp>
      <p:sp>
        <p:nvSpPr>
          <p:cNvPr id="21" name="Text 19"/>
          <p:cNvSpPr/>
          <p:nvPr/>
        </p:nvSpPr>
        <p:spPr>
          <a:xfrm>
            <a:off x="5532120" y="4005072"/>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2</a:t>
            </a:r>
            <a:endParaRPr lang="en-US" sz="1300" dirty="0"/>
          </a:p>
        </p:txBody>
      </p:sp>
      <p:sp>
        <p:nvSpPr>
          <p:cNvPr id="22" name="Text 20"/>
          <p:cNvSpPr/>
          <p:nvPr/>
        </p:nvSpPr>
        <p:spPr>
          <a:xfrm>
            <a:off x="6190488" y="3913632"/>
            <a:ext cx="5020056" cy="411480"/>
          </a:xfrm>
          <a:prstGeom prst="rect">
            <a:avLst/>
          </a:prstGeom>
          <a:noFill/>
          <a:ln/>
        </p:spPr>
        <p:txBody>
          <a:bodyPr wrap="square" lIns="0" tIns="0" rIns="0" bIns="0" rtlCol="0" anchor="ctr"/>
          <a:lstStyle/>
          <a:p>
            <a:pPr indent="0" marL="0">
              <a:buNone/>
            </a:pPr>
            <a:r>
              <a:rPr lang="en-US" sz="2200" b="1" dirty="0">
                <a:solidFill>
                  <a:srgbClr val="16354A"/>
                </a:solidFill>
                <a:latin typeface="Avenir Next" pitchFamily="34" charset="0"/>
                <a:ea typeface="Avenir Next" pitchFamily="34" charset="-122"/>
                <a:cs typeface="Avenir Next" pitchFamily="34" charset="-120"/>
              </a:rPr>
              <a:t>Traceable calculations</a:t>
            </a:r>
            <a:endParaRPr lang="en-US" sz="2200" dirty="0"/>
          </a:p>
        </p:txBody>
      </p:sp>
      <p:sp>
        <p:nvSpPr>
          <p:cNvPr id="23" name="Text 21"/>
          <p:cNvSpPr/>
          <p:nvPr/>
        </p:nvSpPr>
        <p:spPr>
          <a:xfrm>
            <a:off x="6217920" y="4471416"/>
            <a:ext cx="4956048"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Source rows, timestamps, assumptions and cost breakdowns.</a:t>
            </a:r>
            <a:endParaRPr lang="en-US" sz="1500" dirty="0"/>
          </a:p>
        </p:txBody>
      </p:sp>
      <p:sp>
        <p:nvSpPr>
          <p:cNvPr id="24" name="Shape 22"/>
          <p:cNvSpPr/>
          <p:nvPr/>
        </p:nvSpPr>
        <p:spPr>
          <a:xfrm>
            <a:off x="5532120" y="5148072"/>
            <a:ext cx="393192" cy="393192"/>
          </a:xfrm>
          <a:prstGeom prst="ellipse">
            <a:avLst/>
          </a:prstGeom>
          <a:solidFill>
            <a:srgbClr val="007F78"/>
          </a:solidFill>
          <a:ln w="12700">
            <a:solidFill>
              <a:srgbClr val="007F78"/>
            </a:solidFill>
            <a:prstDash val="solid"/>
          </a:ln>
        </p:spPr>
      </p:sp>
      <p:sp>
        <p:nvSpPr>
          <p:cNvPr id="25" name="Text 23"/>
          <p:cNvSpPr/>
          <p:nvPr/>
        </p:nvSpPr>
        <p:spPr>
          <a:xfrm>
            <a:off x="5532120" y="5148072"/>
            <a:ext cx="393192" cy="393192"/>
          </a:xfrm>
          <a:prstGeom prst="rect">
            <a:avLst/>
          </a:prstGeom>
          <a:noFill/>
          <a:ln/>
        </p:spPr>
        <p:txBody>
          <a:bodyPr wrap="square" lIns="0" tIns="0" rIns="0" bIns="0" rtlCol="0" anchor="ctr"/>
          <a:lstStyle/>
          <a:p>
            <a:pPr algn="ctr" indent="0" marL="0">
              <a:buNone/>
            </a:pPr>
            <a:r>
              <a:rPr lang="en-US" sz="1300" b="1" dirty="0">
                <a:solidFill>
                  <a:srgbClr val="FFFFFF"/>
                </a:solidFill>
                <a:latin typeface="Avenir Next" pitchFamily="34" charset="0"/>
                <a:ea typeface="Avenir Next" pitchFamily="34" charset="-122"/>
                <a:cs typeface="Avenir Next" pitchFamily="34" charset="-120"/>
              </a:rPr>
              <a:t>3</a:t>
            </a:r>
            <a:endParaRPr lang="en-US" sz="1300" dirty="0"/>
          </a:p>
        </p:txBody>
      </p:sp>
      <p:sp>
        <p:nvSpPr>
          <p:cNvPr id="26" name="Text 24"/>
          <p:cNvSpPr/>
          <p:nvPr/>
        </p:nvSpPr>
        <p:spPr>
          <a:xfrm>
            <a:off x="6190488" y="5056632"/>
            <a:ext cx="5020056" cy="411480"/>
          </a:xfrm>
          <a:prstGeom prst="rect">
            <a:avLst/>
          </a:prstGeom>
          <a:noFill/>
          <a:ln/>
        </p:spPr>
        <p:txBody>
          <a:bodyPr wrap="square" lIns="0" tIns="0" rIns="0" bIns="0" rtlCol="0" anchor="ctr"/>
          <a:lstStyle/>
          <a:p>
            <a:pPr indent="0" marL="0">
              <a:buNone/>
            </a:pPr>
            <a:r>
              <a:rPr lang="en-US" sz="2200" b="1" dirty="0">
                <a:solidFill>
                  <a:srgbClr val="16354A"/>
                </a:solidFill>
                <a:latin typeface="Avenir Next" pitchFamily="34" charset="0"/>
                <a:ea typeface="Avenir Next" pitchFamily="34" charset="-122"/>
                <a:cs typeface="Avenir Next" pitchFamily="34" charset="-120"/>
              </a:rPr>
              <a:t>Explicit human approval</a:t>
            </a:r>
            <a:endParaRPr lang="en-US" sz="2200" dirty="0"/>
          </a:p>
        </p:txBody>
      </p:sp>
      <p:sp>
        <p:nvSpPr>
          <p:cNvPr id="27" name="Text 25"/>
          <p:cNvSpPr/>
          <p:nvPr/>
        </p:nvSpPr>
        <p:spPr>
          <a:xfrm>
            <a:off x="6217920" y="5614416"/>
            <a:ext cx="4956048" cy="475488"/>
          </a:xfrm>
          <a:prstGeom prst="rect">
            <a:avLst/>
          </a:prstGeom>
          <a:noFill/>
          <a:ln/>
        </p:spPr>
        <p:txBody>
          <a:bodyPr wrap="square" lIns="0" tIns="0" rIns="0" bIns="0" rtlCol="0" anchor="ctr"/>
          <a:lstStyle/>
          <a:p>
            <a:pPr indent="0" marL="0">
              <a:buNone/>
            </a:pPr>
            <a:r>
              <a:rPr lang="en-US" sz="1500" dirty="0">
                <a:solidFill>
                  <a:srgbClr val="526574"/>
                </a:solidFill>
                <a:latin typeface="Avenir Next" pitchFamily="34" charset="0"/>
                <a:ea typeface="Avenir Next" pitchFamily="34" charset="-122"/>
                <a:cs typeface="Avenir Next" pitchFamily="34" charset="-120"/>
              </a:rPr>
              <a:t>A dated intent log. No purchasing or stock movement executes.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BUSINESS MODEL HYPOTHESIS</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Sell the decision workflow. Price the network.</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Proposed commercial model—not current revenue, signed contracts or validated pricing.</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08</a:t>
            </a:r>
            <a:endParaRPr lang="en-US" sz="1100" dirty="0"/>
          </a:p>
        </p:txBody>
      </p:sp>
      <p:sp>
        <p:nvSpPr>
          <p:cNvPr id="8" name="Shape 6"/>
          <p:cNvSpPr/>
          <p:nvPr/>
        </p:nvSpPr>
        <p:spPr>
          <a:xfrm>
            <a:off x="594360" y="2724912"/>
            <a:ext cx="3502152" cy="3008376"/>
          </a:xfrm>
          <a:prstGeom prst="roundRect">
            <a:avLst>
              <a:gd name="adj" fmla="val 3647"/>
            </a:avLst>
          </a:prstGeom>
          <a:solidFill>
            <a:srgbClr val="FFFFFF"/>
          </a:solidFill>
          <a:ln w="12700">
            <a:solidFill>
              <a:srgbClr val="FFFFFF"/>
            </a:solidFill>
            <a:prstDash val="solid"/>
          </a:ln>
        </p:spPr>
      </p:sp>
      <p:sp>
        <p:nvSpPr>
          <p:cNvPr id="9" name="Shape 7"/>
          <p:cNvSpPr/>
          <p:nvPr/>
        </p:nvSpPr>
        <p:spPr>
          <a:xfrm>
            <a:off x="822960" y="2971800"/>
            <a:ext cx="420624" cy="420624"/>
          </a:xfrm>
          <a:prstGeom prst="ellipse">
            <a:avLst/>
          </a:prstGeom>
          <a:solidFill>
            <a:srgbClr val="007F78"/>
          </a:solidFill>
          <a:ln w="12700">
            <a:solidFill>
              <a:srgbClr val="007F78"/>
            </a:solidFill>
            <a:prstDash val="solid"/>
          </a:ln>
        </p:spPr>
      </p:sp>
      <p:sp>
        <p:nvSpPr>
          <p:cNvPr id="10" name="Text 8"/>
          <p:cNvSpPr/>
          <p:nvPr/>
        </p:nvSpPr>
        <p:spPr>
          <a:xfrm>
            <a:off x="822960"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01</a:t>
            </a:r>
            <a:endParaRPr lang="en-US" sz="1400" dirty="0"/>
          </a:p>
        </p:txBody>
      </p:sp>
      <p:sp>
        <p:nvSpPr>
          <p:cNvPr id="11" name="Text 9"/>
          <p:cNvSpPr/>
          <p:nvPr/>
        </p:nvSpPr>
        <p:spPr>
          <a:xfrm>
            <a:off x="822960"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Paid pilot</a:t>
            </a:r>
            <a:endParaRPr lang="en-US" sz="2200" dirty="0"/>
          </a:p>
        </p:txBody>
      </p:sp>
      <p:sp>
        <p:nvSpPr>
          <p:cNvPr id="12" name="Text 10"/>
          <p:cNvSpPr/>
          <p:nvPr/>
        </p:nvSpPr>
        <p:spPr>
          <a:xfrm>
            <a:off x="822960" y="4379976"/>
            <a:ext cx="3044952" cy="11430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Fixed-scope onboarding, baseline measurement and a planner-reviewed trial.</a:t>
            </a:r>
            <a:endParaRPr lang="en-US" sz="1600" dirty="0"/>
          </a:p>
        </p:txBody>
      </p:sp>
      <p:sp>
        <p:nvSpPr>
          <p:cNvPr id="13" name="Shape 11"/>
          <p:cNvSpPr/>
          <p:nvPr/>
        </p:nvSpPr>
        <p:spPr>
          <a:xfrm>
            <a:off x="4352544" y="2724912"/>
            <a:ext cx="3502152" cy="3008376"/>
          </a:xfrm>
          <a:prstGeom prst="roundRect">
            <a:avLst>
              <a:gd name="adj" fmla="val 3647"/>
            </a:avLst>
          </a:prstGeom>
          <a:solidFill>
            <a:srgbClr val="FFFFFF"/>
          </a:solidFill>
          <a:ln w="12700">
            <a:solidFill>
              <a:srgbClr val="FFFFFF"/>
            </a:solidFill>
            <a:prstDash val="solid"/>
          </a:ln>
        </p:spPr>
      </p:sp>
      <p:sp>
        <p:nvSpPr>
          <p:cNvPr id="14" name="Shape 12"/>
          <p:cNvSpPr/>
          <p:nvPr/>
        </p:nvSpPr>
        <p:spPr>
          <a:xfrm>
            <a:off x="4581144" y="2971800"/>
            <a:ext cx="420624" cy="420624"/>
          </a:xfrm>
          <a:prstGeom prst="ellipse">
            <a:avLst/>
          </a:prstGeom>
          <a:solidFill>
            <a:srgbClr val="007F78"/>
          </a:solidFill>
          <a:ln w="12700">
            <a:solidFill>
              <a:srgbClr val="007F78"/>
            </a:solidFill>
            <a:prstDash val="solid"/>
          </a:ln>
        </p:spPr>
      </p:sp>
      <p:sp>
        <p:nvSpPr>
          <p:cNvPr id="15" name="Text 13"/>
          <p:cNvSpPr/>
          <p:nvPr/>
        </p:nvSpPr>
        <p:spPr>
          <a:xfrm>
            <a:off x="4581144"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02</a:t>
            </a:r>
            <a:endParaRPr lang="en-US" sz="1400" dirty="0"/>
          </a:p>
        </p:txBody>
      </p:sp>
      <p:sp>
        <p:nvSpPr>
          <p:cNvPr id="16" name="Text 14"/>
          <p:cNvSpPr/>
          <p:nvPr/>
        </p:nvSpPr>
        <p:spPr>
          <a:xfrm>
            <a:off x="4581144"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Annual subscription</a:t>
            </a:r>
            <a:endParaRPr lang="en-US" sz="2200" dirty="0"/>
          </a:p>
        </p:txBody>
      </p:sp>
      <p:sp>
        <p:nvSpPr>
          <p:cNvPr id="17" name="Text 15"/>
          <p:cNvSpPr/>
          <p:nvPr/>
        </p:nvSpPr>
        <p:spPr>
          <a:xfrm>
            <a:off x="4581144" y="4379976"/>
            <a:ext cx="3044952" cy="11430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Platform fee with location or SKU-volume tiers. Price to be tested with buyers.</a:t>
            </a:r>
            <a:endParaRPr lang="en-US" sz="1600" dirty="0"/>
          </a:p>
        </p:txBody>
      </p:sp>
      <p:sp>
        <p:nvSpPr>
          <p:cNvPr id="18" name="Shape 16"/>
          <p:cNvSpPr/>
          <p:nvPr/>
        </p:nvSpPr>
        <p:spPr>
          <a:xfrm>
            <a:off x="8101584" y="2724912"/>
            <a:ext cx="3502152" cy="3008376"/>
          </a:xfrm>
          <a:prstGeom prst="roundRect">
            <a:avLst>
              <a:gd name="adj" fmla="val 3647"/>
            </a:avLst>
          </a:prstGeom>
          <a:solidFill>
            <a:srgbClr val="FFFFFF"/>
          </a:solidFill>
          <a:ln w="12700">
            <a:solidFill>
              <a:srgbClr val="FFFFFF"/>
            </a:solidFill>
            <a:prstDash val="solid"/>
          </a:ln>
        </p:spPr>
      </p:sp>
      <p:sp>
        <p:nvSpPr>
          <p:cNvPr id="19" name="Shape 17"/>
          <p:cNvSpPr/>
          <p:nvPr/>
        </p:nvSpPr>
        <p:spPr>
          <a:xfrm>
            <a:off x="8330184" y="2971800"/>
            <a:ext cx="420624" cy="420624"/>
          </a:xfrm>
          <a:prstGeom prst="ellipse">
            <a:avLst/>
          </a:prstGeom>
          <a:solidFill>
            <a:srgbClr val="007F78"/>
          </a:solidFill>
          <a:ln w="12700">
            <a:solidFill>
              <a:srgbClr val="007F78"/>
            </a:solidFill>
            <a:prstDash val="solid"/>
          </a:ln>
        </p:spPr>
      </p:sp>
      <p:sp>
        <p:nvSpPr>
          <p:cNvPr id="20" name="Text 18"/>
          <p:cNvSpPr/>
          <p:nvPr/>
        </p:nvSpPr>
        <p:spPr>
          <a:xfrm>
            <a:off x="8330184" y="297180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Avenir Next" pitchFamily="34" charset="0"/>
                <a:ea typeface="Avenir Next" pitchFamily="34" charset="-122"/>
                <a:cs typeface="Avenir Next" pitchFamily="34" charset="-120"/>
              </a:rPr>
              <a:t>03</a:t>
            </a:r>
            <a:endParaRPr lang="en-US" sz="1400" dirty="0"/>
          </a:p>
        </p:txBody>
      </p:sp>
      <p:sp>
        <p:nvSpPr>
          <p:cNvPr id="21" name="Text 19"/>
          <p:cNvSpPr/>
          <p:nvPr/>
        </p:nvSpPr>
        <p:spPr>
          <a:xfrm>
            <a:off x="8330184" y="3621024"/>
            <a:ext cx="3044952" cy="594360"/>
          </a:xfrm>
          <a:prstGeom prst="rect">
            <a:avLst/>
          </a:prstGeom>
          <a:noFill/>
          <a:ln/>
        </p:spPr>
        <p:txBody>
          <a:bodyPr wrap="square" lIns="0" tIns="0" rIns="0" bIns="0" rtlCol="0" anchor="t"/>
          <a:lstStyle/>
          <a:p>
            <a:pPr indent="0" marL="0">
              <a:buNone/>
            </a:pPr>
            <a:r>
              <a:rPr lang="en-US" sz="2200" b="1" dirty="0">
                <a:solidFill>
                  <a:srgbClr val="16354A"/>
                </a:solidFill>
                <a:latin typeface="Avenir Next" pitchFamily="34" charset="0"/>
                <a:ea typeface="Avenir Next" pitchFamily="34" charset="-122"/>
                <a:cs typeface="Avenir Next" pitchFamily="34" charset="-120"/>
              </a:rPr>
              <a:t>Integration services</a:t>
            </a:r>
            <a:endParaRPr lang="en-US" sz="2200" dirty="0"/>
          </a:p>
        </p:txBody>
      </p:sp>
      <p:sp>
        <p:nvSpPr>
          <p:cNvPr id="22" name="Text 20"/>
          <p:cNvSpPr/>
          <p:nvPr/>
        </p:nvSpPr>
        <p:spPr>
          <a:xfrm>
            <a:off x="8330184" y="4379976"/>
            <a:ext cx="3044952" cy="1143000"/>
          </a:xfrm>
          <a:prstGeom prst="rect">
            <a:avLst/>
          </a:prstGeom>
          <a:noFill/>
          <a:ln/>
        </p:spPr>
        <p:txBody>
          <a:bodyPr wrap="square" lIns="0" tIns="0" rIns="0" bIns="0" rtlCol="0" anchor="t"/>
          <a:lstStyle/>
          <a:p>
            <a:pPr indent="0" marL="0">
              <a:buNone/>
            </a:pPr>
            <a:r>
              <a:rPr lang="en-US" sz="1600" dirty="0">
                <a:solidFill>
                  <a:srgbClr val="526574"/>
                </a:solidFill>
                <a:latin typeface="Avenir Next" pitchFamily="34" charset="0"/>
                <a:ea typeface="Avenir Next" pitchFamily="34" charset="-122"/>
                <a:cs typeface="Avenir Next" pitchFamily="34" charset="-120"/>
              </a:rPr>
              <a:t>ERP/WMS mapping and connectors, priced separately.</a:t>
            </a:r>
            <a:endParaRPr lang="en-US" sz="1600" dirty="0"/>
          </a:p>
        </p:txBody>
      </p:sp>
      <p:sp>
        <p:nvSpPr>
          <p:cNvPr id="23" name="Text 21"/>
          <p:cNvSpPr/>
          <p:nvPr/>
        </p:nvSpPr>
        <p:spPr>
          <a:xfrm>
            <a:off x="667512" y="5934456"/>
            <a:ext cx="10835640" cy="283464"/>
          </a:xfrm>
          <a:prstGeom prst="rect">
            <a:avLst/>
          </a:prstGeom>
          <a:noFill/>
          <a:ln/>
        </p:spPr>
        <p:txBody>
          <a:bodyPr wrap="square" lIns="0" tIns="0" rIns="0" bIns="0" rtlCol="0" anchor="ctr"/>
          <a:lstStyle/>
          <a:p>
            <a:pPr indent="0" marL="0">
              <a:buNone/>
            </a:pPr>
            <a:r>
              <a:rPr lang="en-US" sz="1600" b="1" dirty="0">
                <a:solidFill>
                  <a:srgbClr val="007F78"/>
                </a:solidFill>
                <a:latin typeface="Avenir Next" pitchFamily="34" charset="0"/>
                <a:ea typeface="Avenir Next" pitchFamily="34" charset="-122"/>
                <a:cs typeface="Avenir Next" pitchFamily="34" charset="-120"/>
              </a:rPr>
              <a:t>Commercial gate: validate willingness to pay and delivery cost before forecasting ARR or margin.</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POSITIONING</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Add decision intelligence. Keep the ERP.</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Compete for the planner’s daily decision workflow before expanding the product surface.</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09</a:t>
            </a:r>
            <a:endParaRPr lang="en-US" sz="1100" dirty="0"/>
          </a:p>
        </p:txBody>
      </p:sp>
      <p:sp>
        <p:nvSpPr>
          <p:cNvPr id="8" name="Shape 6"/>
          <p:cNvSpPr/>
          <p:nvPr/>
        </p:nvSpPr>
        <p:spPr>
          <a:xfrm>
            <a:off x="594360" y="2816352"/>
            <a:ext cx="3502152" cy="2514600"/>
          </a:xfrm>
          <a:prstGeom prst="roundRect">
            <a:avLst>
              <a:gd name="adj" fmla="val 4364"/>
            </a:avLst>
          </a:prstGeom>
          <a:solidFill>
            <a:srgbClr val="FFFFFF"/>
          </a:solidFill>
          <a:ln w="12700">
            <a:solidFill>
              <a:srgbClr val="FFFFFF"/>
            </a:solidFill>
            <a:prstDash val="solid"/>
          </a:ln>
        </p:spPr>
      </p:sp>
      <p:sp>
        <p:nvSpPr>
          <p:cNvPr id="9" name="Text 7"/>
          <p:cNvSpPr/>
          <p:nvPr/>
        </p:nvSpPr>
        <p:spPr>
          <a:xfrm>
            <a:off x="832104" y="3054096"/>
            <a:ext cx="3017520" cy="246888"/>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SYSTEMS OF RECORD</a:t>
            </a:r>
            <a:endParaRPr lang="en-US" sz="1200" dirty="0"/>
          </a:p>
        </p:txBody>
      </p:sp>
      <p:sp>
        <p:nvSpPr>
          <p:cNvPr id="10" name="Text 8"/>
          <p:cNvSpPr/>
          <p:nvPr/>
        </p:nvSpPr>
        <p:spPr>
          <a:xfrm>
            <a:off x="832104" y="3730752"/>
            <a:ext cx="3063240" cy="457200"/>
          </a:xfrm>
          <a:prstGeom prst="rect">
            <a:avLst/>
          </a:prstGeom>
          <a:noFill/>
          <a:ln/>
        </p:spPr>
        <p:txBody>
          <a:bodyPr wrap="square" lIns="0" tIns="0" rIns="0" bIns="0" rtlCol="0" anchor="ctr"/>
          <a:lstStyle/>
          <a:p>
            <a:pPr indent="0" marL="0">
              <a:buNone/>
            </a:pPr>
            <a:r>
              <a:rPr lang="en-US" sz="2300" b="1" dirty="0">
                <a:solidFill>
                  <a:srgbClr val="16354A"/>
                </a:solidFill>
                <a:latin typeface="Avenir Next" pitchFamily="34" charset="0"/>
                <a:ea typeface="Avenir Next" pitchFamily="34" charset="-122"/>
                <a:cs typeface="Avenir Next" pitchFamily="34" charset="-120"/>
              </a:rPr>
              <a:t>Stock &amp; sales data</a:t>
            </a:r>
            <a:endParaRPr lang="en-US" sz="2300" dirty="0"/>
          </a:p>
        </p:txBody>
      </p:sp>
      <p:sp>
        <p:nvSpPr>
          <p:cNvPr id="11" name="Text 9"/>
          <p:cNvSpPr/>
          <p:nvPr/>
        </p:nvSpPr>
        <p:spPr>
          <a:xfrm>
            <a:off x="832104" y="4544568"/>
            <a:ext cx="3044952" cy="539496"/>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CSV exports today</a:t>
            </a:r>
            <a:endParaRPr lang="en-US" sz="1400" dirty="0"/>
          </a:p>
          <a:p>
            <a:pPr indent="0" marL="0">
              <a:buNone/>
            </a:pPr>
            <a:r>
              <a:rPr lang="en-US" sz="1400" dirty="0">
                <a:solidFill>
                  <a:srgbClr val="526574"/>
                </a:solidFill>
                <a:latin typeface="Avenir Next" pitchFamily="34" charset="0"/>
                <a:ea typeface="Avenir Next" pitchFamily="34" charset="-122"/>
                <a:cs typeface="Avenir Next" pitchFamily="34" charset="-120"/>
              </a:rPr>
              <a:t>ERP / WMS connections later</a:t>
            </a:r>
            <a:endParaRPr lang="en-US" sz="1400" dirty="0"/>
          </a:p>
        </p:txBody>
      </p:sp>
      <p:sp>
        <p:nvSpPr>
          <p:cNvPr id="12" name="Shape 10"/>
          <p:cNvSpPr/>
          <p:nvPr/>
        </p:nvSpPr>
        <p:spPr>
          <a:xfrm>
            <a:off x="4352544" y="2816352"/>
            <a:ext cx="3502152" cy="2514600"/>
          </a:xfrm>
          <a:prstGeom prst="roundRect">
            <a:avLst>
              <a:gd name="adj" fmla="val 4364"/>
            </a:avLst>
          </a:prstGeom>
          <a:solidFill>
            <a:srgbClr val="102A43"/>
          </a:solidFill>
          <a:ln w="12700">
            <a:solidFill>
              <a:srgbClr val="102A43"/>
            </a:solidFill>
            <a:prstDash val="solid"/>
          </a:ln>
        </p:spPr>
      </p:sp>
      <p:sp>
        <p:nvSpPr>
          <p:cNvPr id="13" name="Text 11"/>
          <p:cNvSpPr/>
          <p:nvPr/>
        </p:nvSpPr>
        <p:spPr>
          <a:xfrm>
            <a:off x="4590288" y="3054096"/>
            <a:ext cx="3017520" cy="246888"/>
          </a:xfrm>
          <a:prstGeom prst="rect">
            <a:avLst/>
          </a:prstGeom>
          <a:noFill/>
          <a:ln/>
        </p:spPr>
        <p:txBody>
          <a:bodyPr wrap="square" lIns="0" tIns="0" rIns="0" bIns="0" rtlCol="0" anchor="ctr"/>
          <a:lstStyle/>
          <a:p>
            <a:pPr indent="0" marL="0">
              <a:buNone/>
            </a:pPr>
            <a:r>
              <a:rPr lang="en-US" sz="1200" b="1" dirty="0">
                <a:solidFill>
                  <a:srgbClr val="65D9BE"/>
                </a:solidFill>
                <a:latin typeface="Avenir Next" pitchFamily="34" charset="0"/>
                <a:ea typeface="Avenir Next" pitchFamily="34" charset="-122"/>
                <a:cs typeface="Avenir Next" pitchFamily="34" charset="-120"/>
              </a:rPr>
              <a:t>GULFTRADE</a:t>
            </a:r>
            <a:endParaRPr lang="en-US" sz="1200" dirty="0"/>
          </a:p>
        </p:txBody>
      </p:sp>
      <p:sp>
        <p:nvSpPr>
          <p:cNvPr id="14" name="Text 12"/>
          <p:cNvSpPr/>
          <p:nvPr/>
        </p:nvSpPr>
        <p:spPr>
          <a:xfrm>
            <a:off x="4590288" y="3730752"/>
            <a:ext cx="3063240" cy="457200"/>
          </a:xfrm>
          <a:prstGeom prst="rect">
            <a:avLst/>
          </a:prstGeom>
          <a:noFill/>
          <a:ln/>
        </p:spPr>
        <p:txBody>
          <a:bodyPr wrap="square" lIns="0" tIns="0" rIns="0" bIns="0" rtlCol="0" anchor="ctr"/>
          <a:lstStyle/>
          <a:p>
            <a:pPr indent="0" marL="0">
              <a:buNone/>
            </a:pPr>
            <a:r>
              <a:rPr lang="en-US" sz="2300" b="1" dirty="0">
                <a:solidFill>
                  <a:srgbClr val="FFFFFF"/>
                </a:solidFill>
                <a:latin typeface="Avenir Next" pitchFamily="34" charset="0"/>
                <a:ea typeface="Avenir Next" pitchFamily="34" charset="-122"/>
                <a:cs typeface="Avenir Next" pitchFamily="34" charset="-120"/>
              </a:rPr>
              <a:t>Decision intelligence</a:t>
            </a:r>
            <a:endParaRPr lang="en-US" sz="2300" dirty="0"/>
          </a:p>
        </p:txBody>
      </p:sp>
      <p:sp>
        <p:nvSpPr>
          <p:cNvPr id="15" name="Text 13"/>
          <p:cNvSpPr/>
          <p:nvPr/>
        </p:nvSpPr>
        <p:spPr>
          <a:xfrm>
            <a:off x="4590288" y="4544568"/>
            <a:ext cx="3044952" cy="539496"/>
          </a:xfrm>
          <a:prstGeom prst="rect">
            <a:avLst/>
          </a:prstGeom>
          <a:noFill/>
          <a:ln/>
        </p:spPr>
        <p:txBody>
          <a:bodyPr wrap="square" lIns="0" tIns="0" rIns="0" bIns="0" rtlCol="0" anchor="ctr"/>
          <a:lstStyle/>
          <a:p>
            <a:pPr indent="0" marL="0">
              <a:buNone/>
            </a:pPr>
            <a:r>
              <a:rPr lang="en-US" sz="1400" dirty="0">
                <a:solidFill>
                  <a:srgbClr val="A9C1CC"/>
                </a:solidFill>
                <a:latin typeface="Avenir Next" pitchFamily="34" charset="0"/>
                <a:ea typeface="Avenir Next" pitchFamily="34" charset="-122"/>
                <a:cs typeface="Avenir Next" pitchFamily="34" charset="-120"/>
              </a:rPr>
              <a:t>Forecast + feasibility + economics</a:t>
            </a:r>
            <a:endParaRPr lang="en-US" sz="1400" dirty="0"/>
          </a:p>
          <a:p>
            <a:pPr indent="0" marL="0">
              <a:buNone/>
            </a:pPr>
            <a:r>
              <a:rPr lang="en-US" sz="1400" dirty="0">
                <a:solidFill>
                  <a:srgbClr val="A9C1CC"/>
                </a:solidFill>
                <a:latin typeface="Avenir Next" pitchFamily="34" charset="0"/>
                <a:ea typeface="Avenir Next" pitchFamily="34" charset="-122"/>
                <a:cs typeface="Avenir Next" pitchFamily="34" charset="-120"/>
              </a:rPr>
              <a:t>Evidence attached to each action</a:t>
            </a:r>
            <a:endParaRPr lang="en-US" sz="1400" dirty="0"/>
          </a:p>
        </p:txBody>
      </p:sp>
      <p:sp>
        <p:nvSpPr>
          <p:cNvPr id="16" name="Shape 14"/>
          <p:cNvSpPr/>
          <p:nvPr/>
        </p:nvSpPr>
        <p:spPr>
          <a:xfrm>
            <a:off x="8101584" y="2816352"/>
            <a:ext cx="3502152" cy="2514600"/>
          </a:xfrm>
          <a:prstGeom prst="roundRect">
            <a:avLst>
              <a:gd name="adj" fmla="val 4364"/>
            </a:avLst>
          </a:prstGeom>
          <a:solidFill>
            <a:srgbClr val="FFFFFF"/>
          </a:solidFill>
          <a:ln w="12700">
            <a:solidFill>
              <a:srgbClr val="FFFFFF"/>
            </a:solidFill>
            <a:prstDash val="solid"/>
          </a:ln>
        </p:spPr>
      </p:sp>
      <p:sp>
        <p:nvSpPr>
          <p:cNvPr id="17" name="Text 15"/>
          <p:cNvSpPr/>
          <p:nvPr/>
        </p:nvSpPr>
        <p:spPr>
          <a:xfrm>
            <a:off x="8339328" y="3054096"/>
            <a:ext cx="3017520" cy="246888"/>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PLANNER</a:t>
            </a:r>
            <a:endParaRPr lang="en-US" sz="1200" dirty="0"/>
          </a:p>
        </p:txBody>
      </p:sp>
      <p:sp>
        <p:nvSpPr>
          <p:cNvPr id="18" name="Text 16"/>
          <p:cNvSpPr/>
          <p:nvPr/>
        </p:nvSpPr>
        <p:spPr>
          <a:xfrm>
            <a:off x="8339328" y="3730752"/>
            <a:ext cx="3063240" cy="457200"/>
          </a:xfrm>
          <a:prstGeom prst="rect">
            <a:avLst/>
          </a:prstGeom>
          <a:noFill/>
          <a:ln/>
        </p:spPr>
        <p:txBody>
          <a:bodyPr wrap="square" lIns="0" tIns="0" rIns="0" bIns="0" rtlCol="0" anchor="ctr"/>
          <a:lstStyle/>
          <a:p>
            <a:pPr indent="0" marL="0">
              <a:buNone/>
            </a:pPr>
            <a:r>
              <a:rPr lang="en-US" sz="2300" b="1" dirty="0">
                <a:solidFill>
                  <a:srgbClr val="16354A"/>
                </a:solidFill>
                <a:latin typeface="Avenir Next" pitchFamily="34" charset="0"/>
                <a:ea typeface="Avenir Next" pitchFamily="34" charset="-122"/>
                <a:cs typeface="Avenir Next" pitchFamily="34" charset="-120"/>
              </a:rPr>
              <a:t>Review &amp; learn</a:t>
            </a:r>
            <a:endParaRPr lang="en-US" sz="2300" dirty="0"/>
          </a:p>
        </p:txBody>
      </p:sp>
      <p:sp>
        <p:nvSpPr>
          <p:cNvPr id="19" name="Text 17"/>
          <p:cNvSpPr/>
          <p:nvPr/>
        </p:nvSpPr>
        <p:spPr>
          <a:xfrm>
            <a:off x="8339328" y="4544568"/>
            <a:ext cx="3044952" cy="539496"/>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Approve / reject intent today</a:t>
            </a:r>
            <a:endParaRPr lang="en-US" sz="1400" dirty="0"/>
          </a:p>
          <a:p>
            <a:pPr indent="0" marL="0">
              <a:buNone/>
            </a:pPr>
            <a:r>
              <a:rPr lang="en-US" sz="1400" dirty="0">
                <a:solidFill>
                  <a:srgbClr val="526574"/>
                </a:solidFill>
                <a:latin typeface="Avenir Next" pitchFamily="34" charset="0"/>
                <a:ea typeface="Avenir Next" pitchFamily="34" charset="-122"/>
                <a:cs typeface="Avenir Next" pitchFamily="34" charset="-120"/>
              </a:rPr>
              <a:t>Outcome feedback in a pilot</a:t>
            </a:r>
            <a:endParaRPr lang="en-US" sz="1400" dirty="0"/>
          </a:p>
        </p:txBody>
      </p:sp>
      <p:sp>
        <p:nvSpPr>
          <p:cNvPr id="20" name="Shape 18"/>
          <p:cNvSpPr/>
          <p:nvPr/>
        </p:nvSpPr>
        <p:spPr>
          <a:xfrm>
            <a:off x="4096512" y="3785616"/>
            <a:ext cx="228600" cy="265176"/>
          </a:xfrm>
          <a:prstGeom prst="rightArrow">
            <a:avLst/>
          </a:prstGeom>
          <a:solidFill>
            <a:srgbClr val="007F78"/>
          </a:solidFill>
          <a:ln w="12700">
            <a:solidFill>
              <a:srgbClr val="007F78"/>
            </a:solidFill>
            <a:prstDash val="solid"/>
          </a:ln>
        </p:spPr>
      </p:sp>
      <p:sp>
        <p:nvSpPr>
          <p:cNvPr id="21" name="Shape 19"/>
          <p:cNvSpPr/>
          <p:nvPr/>
        </p:nvSpPr>
        <p:spPr>
          <a:xfrm>
            <a:off x="7845552" y="3785616"/>
            <a:ext cx="228600" cy="265176"/>
          </a:xfrm>
          <a:prstGeom prst="rightArrow">
            <a:avLst/>
          </a:prstGeom>
          <a:solidFill>
            <a:srgbClr val="007F78"/>
          </a:solidFill>
          <a:ln w="12700">
            <a:solidFill>
              <a:srgbClr val="007F78"/>
            </a:solidFill>
            <a:prstDash val="solid"/>
          </a:ln>
        </p:spPr>
      </p:sp>
      <p:sp>
        <p:nvSpPr>
          <p:cNvPr id="22" name="Text 20"/>
          <p:cNvSpPr/>
          <p:nvPr/>
        </p:nvSpPr>
        <p:spPr>
          <a:xfrm>
            <a:off x="667512" y="5660136"/>
            <a:ext cx="10789920" cy="585216"/>
          </a:xfrm>
          <a:prstGeom prst="rect">
            <a:avLst/>
          </a:prstGeom>
          <a:noFill/>
          <a:ln/>
        </p:spPr>
        <p:txBody>
          <a:bodyPr wrap="square" lIns="0" tIns="0" rIns="0" bIns="0" rtlCol="0" anchor="ctr"/>
          <a:lstStyle/>
          <a:p>
            <a:pPr indent="0" marL="0">
              <a:buNone/>
            </a:pPr>
            <a:r>
              <a:rPr lang="en-US" sz="1700" b="1" dirty="0">
                <a:solidFill>
                  <a:srgbClr val="007F78"/>
                </a:solidFill>
                <a:latin typeface="Avenir Next" pitchFamily="34" charset="0"/>
                <a:ea typeface="Avenir Next" pitchFamily="34" charset="-122"/>
                <a:cs typeface="Avenir Next" pitchFamily="34" charset="-120"/>
              </a:rPr>
              <a:t>Potential defensibility: reusable data mappings, operational constraints and measured decision outcomes.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GO-TO-MARKET PROPOSAL</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Prove a paid deployment. Then scale.</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Founder-led distribution discovery, followed by a tightly measured pilot.</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10</a:t>
            </a:r>
            <a:endParaRPr lang="en-US" sz="1100" dirty="0"/>
          </a:p>
        </p:txBody>
      </p:sp>
      <p:sp>
        <p:nvSpPr>
          <p:cNvPr id="8" name="Shape 6"/>
          <p:cNvSpPr/>
          <p:nvPr/>
        </p:nvSpPr>
        <p:spPr>
          <a:xfrm>
            <a:off x="640080" y="2825496"/>
            <a:ext cx="585216" cy="585216"/>
          </a:xfrm>
          <a:prstGeom prst="ellipse">
            <a:avLst/>
          </a:prstGeom>
          <a:solidFill>
            <a:srgbClr val="102A43"/>
          </a:solidFill>
          <a:ln w="12700">
            <a:solidFill>
              <a:srgbClr val="102A43"/>
            </a:solidFill>
            <a:prstDash val="solid"/>
          </a:ln>
        </p:spPr>
      </p:sp>
      <p:sp>
        <p:nvSpPr>
          <p:cNvPr id="9" name="Text 7"/>
          <p:cNvSpPr/>
          <p:nvPr/>
        </p:nvSpPr>
        <p:spPr>
          <a:xfrm>
            <a:off x="640080" y="2825496"/>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Avenir Next" pitchFamily="34" charset="0"/>
                <a:ea typeface="Avenir Next" pitchFamily="34" charset="-122"/>
                <a:cs typeface="Avenir Next" pitchFamily="34" charset="-120"/>
              </a:rPr>
              <a:t>01</a:t>
            </a:r>
            <a:endParaRPr lang="en-US" sz="1900" dirty="0"/>
          </a:p>
        </p:txBody>
      </p:sp>
      <p:sp>
        <p:nvSpPr>
          <p:cNvPr id="10" name="Shape 8"/>
          <p:cNvSpPr/>
          <p:nvPr/>
        </p:nvSpPr>
        <p:spPr>
          <a:xfrm>
            <a:off x="1527048" y="3108960"/>
            <a:ext cx="2432304" cy="0"/>
          </a:xfrm>
          <a:prstGeom prst="line">
            <a:avLst/>
          </a:prstGeom>
          <a:noFill/>
          <a:ln w="31750">
            <a:solidFill>
              <a:srgbClr val="D5DFDB"/>
            </a:solidFill>
            <a:prstDash val="solid"/>
          </a:ln>
        </p:spPr>
      </p:sp>
      <p:sp>
        <p:nvSpPr>
          <p:cNvPr id="11" name="Text 9"/>
          <p:cNvSpPr/>
          <p:nvPr/>
        </p:nvSpPr>
        <p:spPr>
          <a:xfrm>
            <a:off x="640080" y="3758184"/>
            <a:ext cx="3364992" cy="777240"/>
          </a:xfrm>
          <a:prstGeom prst="rect">
            <a:avLst/>
          </a:prstGeom>
          <a:noFill/>
          <a:ln/>
        </p:spPr>
        <p:txBody>
          <a:bodyPr wrap="square" lIns="0" tIns="0" rIns="0" bIns="0" rtlCol="0" anchor="t"/>
          <a:lstStyle/>
          <a:p>
            <a:pPr indent="0" marL="0">
              <a:buNone/>
            </a:pPr>
            <a:r>
              <a:rPr lang="en-US" sz="2500" b="1" dirty="0">
                <a:solidFill>
                  <a:srgbClr val="16354A"/>
                </a:solidFill>
                <a:latin typeface="Avenir Next" pitchFamily="34" charset="0"/>
                <a:ea typeface="Avenir Next" pitchFamily="34" charset="-122"/>
                <a:cs typeface="Avenir Next" pitchFamily="34" charset="-120"/>
              </a:rPr>
              <a:t>Recruit design partners</a:t>
            </a:r>
            <a:endParaRPr lang="en-US" sz="2500" dirty="0"/>
          </a:p>
        </p:txBody>
      </p:sp>
      <p:sp>
        <p:nvSpPr>
          <p:cNvPr id="12" name="Text 10"/>
          <p:cNvSpPr/>
          <p:nvPr/>
        </p:nvSpPr>
        <p:spPr>
          <a:xfrm>
            <a:off x="649224" y="4782312"/>
            <a:ext cx="3236976" cy="905256"/>
          </a:xfrm>
          <a:prstGeom prst="rect">
            <a:avLst/>
          </a:prstGeom>
          <a:noFill/>
          <a:ln/>
        </p:spPr>
        <p:txBody>
          <a:bodyPr wrap="square" lIns="0" tIns="0" rIns="0" bIns="0" rtlCol="0" anchor="t"/>
          <a:lstStyle/>
          <a:p>
            <a:pPr indent="0" marL="0">
              <a:buNone/>
            </a:pPr>
            <a:r>
              <a:rPr lang="en-US" sz="1700" dirty="0">
                <a:solidFill>
                  <a:srgbClr val="526574"/>
                </a:solidFill>
                <a:latin typeface="Avenir Next" pitchFamily="34" charset="0"/>
                <a:ea typeface="Avenir Next" pitchFamily="34" charset="-122"/>
                <a:cs typeface="Avenir Next" pitchFamily="34" charset="-120"/>
              </a:rPr>
              <a:t>Target three qualified distributor teams. Confirm data access and a named planner owner.</a:t>
            </a:r>
            <a:endParaRPr lang="en-US" sz="1700" dirty="0"/>
          </a:p>
        </p:txBody>
      </p:sp>
      <p:sp>
        <p:nvSpPr>
          <p:cNvPr id="13" name="Shape 11"/>
          <p:cNvSpPr/>
          <p:nvPr/>
        </p:nvSpPr>
        <p:spPr>
          <a:xfrm>
            <a:off x="4393692" y="2825496"/>
            <a:ext cx="585216" cy="585216"/>
          </a:xfrm>
          <a:prstGeom prst="ellipse">
            <a:avLst/>
          </a:prstGeom>
          <a:solidFill>
            <a:srgbClr val="007F78"/>
          </a:solidFill>
          <a:ln w="12700">
            <a:solidFill>
              <a:srgbClr val="007F78"/>
            </a:solidFill>
            <a:prstDash val="solid"/>
          </a:ln>
        </p:spPr>
      </p:sp>
      <p:sp>
        <p:nvSpPr>
          <p:cNvPr id="14" name="Text 12"/>
          <p:cNvSpPr/>
          <p:nvPr/>
        </p:nvSpPr>
        <p:spPr>
          <a:xfrm>
            <a:off x="4393692" y="2825496"/>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Avenir Next" pitchFamily="34" charset="0"/>
                <a:ea typeface="Avenir Next" pitchFamily="34" charset="-122"/>
                <a:cs typeface="Avenir Next" pitchFamily="34" charset="-120"/>
              </a:rPr>
              <a:t>02</a:t>
            </a:r>
            <a:endParaRPr lang="en-US" sz="1900" dirty="0"/>
          </a:p>
        </p:txBody>
      </p:sp>
      <p:sp>
        <p:nvSpPr>
          <p:cNvPr id="15" name="Shape 13"/>
          <p:cNvSpPr/>
          <p:nvPr/>
        </p:nvSpPr>
        <p:spPr>
          <a:xfrm>
            <a:off x="5280660" y="3108960"/>
            <a:ext cx="2432304" cy="0"/>
          </a:xfrm>
          <a:prstGeom prst="line">
            <a:avLst/>
          </a:prstGeom>
          <a:noFill/>
          <a:ln w="31750">
            <a:solidFill>
              <a:srgbClr val="D5DFDB"/>
            </a:solidFill>
            <a:prstDash val="solid"/>
          </a:ln>
        </p:spPr>
      </p:sp>
      <p:sp>
        <p:nvSpPr>
          <p:cNvPr id="16" name="Text 14"/>
          <p:cNvSpPr/>
          <p:nvPr/>
        </p:nvSpPr>
        <p:spPr>
          <a:xfrm>
            <a:off x="4393692" y="3758184"/>
            <a:ext cx="3364992" cy="777240"/>
          </a:xfrm>
          <a:prstGeom prst="rect">
            <a:avLst/>
          </a:prstGeom>
          <a:noFill/>
          <a:ln/>
        </p:spPr>
        <p:txBody>
          <a:bodyPr wrap="square" lIns="0" tIns="0" rIns="0" bIns="0" rtlCol="0" anchor="t"/>
          <a:lstStyle/>
          <a:p>
            <a:pPr indent="0" marL="0">
              <a:buNone/>
            </a:pPr>
            <a:r>
              <a:rPr lang="en-US" sz="2500" b="1" dirty="0">
                <a:solidFill>
                  <a:srgbClr val="16354A"/>
                </a:solidFill>
                <a:latin typeface="Avenir Next" pitchFamily="34" charset="0"/>
                <a:ea typeface="Avenir Next" pitchFamily="34" charset="-122"/>
                <a:cs typeface="Avenir Next" pitchFamily="34" charset="-120"/>
              </a:rPr>
              <a:t>Run in shadow mode</a:t>
            </a:r>
            <a:endParaRPr lang="en-US" sz="2500" dirty="0"/>
          </a:p>
        </p:txBody>
      </p:sp>
      <p:sp>
        <p:nvSpPr>
          <p:cNvPr id="17" name="Text 15"/>
          <p:cNvSpPr/>
          <p:nvPr/>
        </p:nvSpPr>
        <p:spPr>
          <a:xfrm>
            <a:off x="4402836" y="4782312"/>
            <a:ext cx="3236976" cy="905256"/>
          </a:xfrm>
          <a:prstGeom prst="rect">
            <a:avLst/>
          </a:prstGeom>
          <a:noFill/>
          <a:ln/>
        </p:spPr>
        <p:txBody>
          <a:bodyPr wrap="square" lIns="0" tIns="0" rIns="0" bIns="0" rtlCol="0" anchor="t"/>
          <a:lstStyle/>
          <a:p>
            <a:pPr indent="0" marL="0">
              <a:buNone/>
            </a:pPr>
            <a:r>
              <a:rPr lang="en-US" sz="1700" dirty="0">
                <a:solidFill>
                  <a:srgbClr val="526574"/>
                </a:solidFill>
                <a:latin typeface="Avenir Next" pitchFamily="34" charset="0"/>
                <a:ea typeface="Avenir Next" pitchFamily="34" charset="-122"/>
                <a:cs typeface="Avenir Next" pitchFamily="34" charset="-120"/>
              </a:rPr>
              <a:t>Record current decisions and measure recommendations without executing movements.</a:t>
            </a:r>
            <a:endParaRPr lang="en-US" sz="1700" dirty="0"/>
          </a:p>
        </p:txBody>
      </p:sp>
      <p:sp>
        <p:nvSpPr>
          <p:cNvPr id="18" name="Shape 16"/>
          <p:cNvSpPr/>
          <p:nvPr/>
        </p:nvSpPr>
        <p:spPr>
          <a:xfrm>
            <a:off x="8147304" y="2825496"/>
            <a:ext cx="585216" cy="585216"/>
          </a:xfrm>
          <a:prstGeom prst="ellipse">
            <a:avLst/>
          </a:prstGeom>
          <a:solidFill>
            <a:srgbClr val="102A43"/>
          </a:solidFill>
          <a:ln w="12700">
            <a:solidFill>
              <a:srgbClr val="102A43"/>
            </a:solidFill>
            <a:prstDash val="solid"/>
          </a:ln>
        </p:spPr>
      </p:sp>
      <p:sp>
        <p:nvSpPr>
          <p:cNvPr id="19" name="Text 17"/>
          <p:cNvSpPr/>
          <p:nvPr/>
        </p:nvSpPr>
        <p:spPr>
          <a:xfrm>
            <a:off x="8147304" y="2825496"/>
            <a:ext cx="585216" cy="585216"/>
          </a:xfrm>
          <a:prstGeom prst="rect">
            <a:avLst/>
          </a:prstGeom>
          <a:noFill/>
          <a:ln/>
        </p:spPr>
        <p:txBody>
          <a:bodyPr wrap="square" lIns="0" tIns="0" rIns="0" bIns="0" rtlCol="0" anchor="ctr"/>
          <a:lstStyle/>
          <a:p>
            <a:pPr algn="ctr" indent="0" marL="0">
              <a:buNone/>
            </a:pPr>
            <a:r>
              <a:rPr lang="en-US" sz="1900" b="1" dirty="0">
                <a:solidFill>
                  <a:srgbClr val="FFFFFF"/>
                </a:solidFill>
                <a:latin typeface="Avenir Next" pitchFamily="34" charset="0"/>
                <a:ea typeface="Avenir Next" pitchFamily="34" charset="-122"/>
                <a:cs typeface="Avenir Next" pitchFamily="34" charset="-120"/>
              </a:rPr>
              <a:t>03</a:t>
            </a:r>
            <a:endParaRPr lang="en-US" sz="1900" dirty="0"/>
          </a:p>
        </p:txBody>
      </p:sp>
      <p:sp>
        <p:nvSpPr>
          <p:cNvPr id="20" name="Text 18"/>
          <p:cNvSpPr/>
          <p:nvPr/>
        </p:nvSpPr>
        <p:spPr>
          <a:xfrm>
            <a:off x="8147304" y="3758184"/>
            <a:ext cx="3364992" cy="777240"/>
          </a:xfrm>
          <a:prstGeom prst="rect">
            <a:avLst/>
          </a:prstGeom>
          <a:noFill/>
          <a:ln/>
        </p:spPr>
        <p:txBody>
          <a:bodyPr wrap="square" lIns="0" tIns="0" rIns="0" bIns="0" rtlCol="0" anchor="t"/>
          <a:lstStyle/>
          <a:p>
            <a:pPr indent="0" marL="0">
              <a:buNone/>
            </a:pPr>
            <a:r>
              <a:rPr lang="en-US" sz="2500" b="1" dirty="0">
                <a:solidFill>
                  <a:srgbClr val="16354A"/>
                </a:solidFill>
                <a:latin typeface="Avenir Next" pitchFamily="34" charset="0"/>
                <a:ea typeface="Avenir Next" pitchFamily="34" charset="-122"/>
                <a:cs typeface="Avenir Next" pitchFamily="34" charset="-120"/>
              </a:rPr>
              <a:t>Convert on evidence</a:t>
            </a:r>
            <a:endParaRPr lang="en-US" sz="2500" dirty="0"/>
          </a:p>
        </p:txBody>
      </p:sp>
      <p:sp>
        <p:nvSpPr>
          <p:cNvPr id="21" name="Text 19"/>
          <p:cNvSpPr/>
          <p:nvPr/>
        </p:nvSpPr>
        <p:spPr>
          <a:xfrm>
            <a:off x="8156448" y="4782312"/>
            <a:ext cx="3236976" cy="905256"/>
          </a:xfrm>
          <a:prstGeom prst="rect">
            <a:avLst/>
          </a:prstGeom>
          <a:noFill/>
          <a:ln/>
        </p:spPr>
        <p:txBody>
          <a:bodyPr wrap="square" lIns="0" tIns="0" rIns="0" bIns="0" rtlCol="0" anchor="t"/>
          <a:lstStyle/>
          <a:p>
            <a:pPr indent="0" marL="0">
              <a:buNone/>
            </a:pPr>
            <a:r>
              <a:rPr lang="en-US" sz="1700" dirty="0">
                <a:solidFill>
                  <a:srgbClr val="526574"/>
                </a:solidFill>
                <a:latin typeface="Avenir Next" pitchFamily="34" charset="0"/>
                <a:ea typeface="Avenir Next" pitchFamily="34" charset="-122"/>
                <a:cs typeface="Avenir Next" pitchFamily="34" charset="-120"/>
              </a:rPr>
              <a:t>Offer paid deployment only after buyer-agreed value and adoption gates are met.</a:t>
            </a:r>
            <a:endParaRPr lang="en-US" sz="1700" dirty="0"/>
          </a:p>
        </p:txBody>
      </p:sp>
      <p:sp>
        <p:nvSpPr>
          <p:cNvPr id="22" name="Shape 20"/>
          <p:cNvSpPr/>
          <p:nvPr/>
        </p:nvSpPr>
        <p:spPr>
          <a:xfrm>
            <a:off x="649224" y="5989320"/>
            <a:ext cx="7827264" cy="310896"/>
          </a:xfrm>
          <a:prstGeom prst="roundRect">
            <a:avLst>
              <a:gd name="adj" fmla="val 35294"/>
            </a:avLst>
          </a:prstGeom>
          <a:solidFill>
            <a:srgbClr val="F1E8D6"/>
          </a:solidFill>
          <a:ln w="12700">
            <a:solidFill>
              <a:srgbClr val="F1E8D6"/>
            </a:solidFill>
            <a:prstDash val="solid"/>
          </a:ln>
        </p:spPr>
      </p:sp>
      <p:sp>
        <p:nvSpPr>
          <p:cNvPr id="23" name="Text 21"/>
          <p:cNvSpPr/>
          <p:nvPr/>
        </p:nvSpPr>
        <p:spPr>
          <a:xfrm>
            <a:off x="758952" y="5989320"/>
            <a:ext cx="7607808" cy="310896"/>
          </a:xfrm>
          <a:prstGeom prst="rect">
            <a:avLst/>
          </a:prstGeom>
          <a:noFill/>
          <a:ln/>
        </p:spPr>
        <p:txBody>
          <a:bodyPr wrap="square" lIns="0" tIns="0" rIns="0" bIns="0" rtlCol="0" anchor="ctr"/>
          <a:lstStyle/>
          <a:p>
            <a:pPr indent="0" marL="0">
              <a:buNone/>
            </a:pPr>
            <a:r>
              <a:rPr lang="en-US" sz="1050" b="1" dirty="0">
                <a:solidFill>
                  <a:srgbClr val="76541E"/>
                </a:solidFill>
                <a:latin typeface="Avenir Next" pitchFamily="34" charset="0"/>
                <a:ea typeface="Avenir Next" pitchFamily="34" charset="-122"/>
                <a:cs typeface="Avenir Next" pitchFamily="34" charset="-120"/>
              </a:rPr>
              <a:t>TARGETS, NOT SIGNED PARTNERS. NO CUSTOMER TRACTION IS CLAIMED.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PROPOSED 90-DAY PILOT</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De-risk data, trust and value—in that order.</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Milestone sequence begins after partner access, staffing and scope are agreed.</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11</a:t>
            </a:r>
            <a:endParaRPr lang="en-US" sz="1100" dirty="0"/>
          </a:p>
        </p:txBody>
      </p:sp>
      <p:sp>
        <p:nvSpPr>
          <p:cNvPr id="8" name="Shape 6"/>
          <p:cNvSpPr/>
          <p:nvPr/>
        </p:nvSpPr>
        <p:spPr>
          <a:xfrm>
            <a:off x="594360" y="2761488"/>
            <a:ext cx="3502152" cy="3182112"/>
          </a:xfrm>
          <a:prstGeom prst="roundRect">
            <a:avLst>
              <a:gd name="adj" fmla="val 3448"/>
            </a:avLst>
          </a:prstGeom>
          <a:solidFill>
            <a:srgbClr val="FFFFFF"/>
          </a:solidFill>
          <a:ln w="12700">
            <a:solidFill>
              <a:srgbClr val="FFFFFF"/>
            </a:solidFill>
            <a:prstDash val="solid"/>
          </a:ln>
        </p:spPr>
      </p:sp>
      <p:sp>
        <p:nvSpPr>
          <p:cNvPr id="9" name="Shape 7"/>
          <p:cNvSpPr/>
          <p:nvPr/>
        </p:nvSpPr>
        <p:spPr>
          <a:xfrm>
            <a:off x="804672" y="2990088"/>
            <a:ext cx="1591056" cy="310896"/>
          </a:xfrm>
          <a:prstGeom prst="roundRect">
            <a:avLst>
              <a:gd name="adj" fmla="val 35294"/>
            </a:avLst>
          </a:prstGeom>
          <a:solidFill>
            <a:srgbClr val="E5EEE9"/>
          </a:solidFill>
          <a:ln w="12700">
            <a:solidFill>
              <a:srgbClr val="E5EEE9"/>
            </a:solidFill>
            <a:prstDash val="solid"/>
          </a:ln>
        </p:spPr>
      </p:sp>
      <p:sp>
        <p:nvSpPr>
          <p:cNvPr id="10" name="Text 8"/>
          <p:cNvSpPr/>
          <p:nvPr/>
        </p:nvSpPr>
        <p:spPr>
          <a:xfrm>
            <a:off x="914400" y="2990088"/>
            <a:ext cx="1371600" cy="310896"/>
          </a:xfrm>
          <a:prstGeom prst="rect">
            <a:avLst/>
          </a:prstGeom>
          <a:noFill/>
          <a:ln/>
        </p:spPr>
        <p:txBody>
          <a:bodyPr wrap="square" lIns="0" tIns="0" rIns="0" bIns="0" rtlCol="0" anchor="ctr"/>
          <a:lstStyle/>
          <a:p>
            <a:pPr indent="0" marL="0">
              <a:buNone/>
            </a:pPr>
            <a:r>
              <a:rPr lang="en-US" sz="1050" b="1" dirty="0">
                <a:solidFill>
                  <a:srgbClr val="007F78"/>
                </a:solidFill>
                <a:latin typeface="Avenir Next" pitchFamily="34" charset="0"/>
                <a:ea typeface="Avenir Next" pitchFamily="34" charset="-122"/>
                <a:cs typeface="Avenir Next" pitchFamily="34" charset="-120"/>
              </a:rPr>
              <a:t>DAYS 01–30</a:t>
            </a:r>
            <a:endParaRPr lang="en-US" sz="1050" dirty="0"/>
          </a:p>
        </p:txBody>
      </p:sp>
      <p:sp>
        <p:nvSpPr>
          <p:cNvPr id="11" name="Text 9"/>
          <p:cNvSpPr/>
          <p:nvPr/>
        </p:nvSpPr>
        <p:spPr>
          <a:xfrm>
            <a:off x="813816" y="3657600"/>
            <a:ext cx="3026664" cy="512064"/>
          </a:xfrm>
          <a:prstGeom prst="rect">
            <a:avLst/>
          </a:prstGeom>
          <a:noFill/>
          <a:ln/>
        </p:spPr>
        <p:txBody>
          <a:bodyPr wrap="square" lIns="0" tIns="0" rIns="0" bIns="0" rtlCol="0" anchor="ctr"/>
          <a:lstStyle/>
          <a:p>
            <a:pPr indent="0" marL="0">
              <a:buNone/>
            </a:pPr>
            <a:r>
              <a:rPr lang="en-US" sz="2500" b="1" dirty="0">
                <a:solidFill>
                  <a:srgbClr val="16354A"/>
                </a:solidFill>
                <a:latin typeface="Avenir Next" pitchFamily="34" charset="0"/>
                <a:ea typeface="Avenir Next" pitchFamily="34" charset="-122"/>
                <a:cs typeface="Avenir Next" pitchFamily="34" charset="-120"/>
              </a:rPr>
              <a:t>Reliable inputs</a:t>
            </a:r>
            <a:endParaRPr lang="en-US" sz="2500" dirty="0"/>
          </a:p>
        </p:txBody>
      </p:sp>
      <p:sp>
        <p:nvSpPr>
          <p:cNvPr id="12" name="Text 10"/>
          <p:cNvSpPr/>
          <p:nvPr/>
        </p:nvSpPr>
        <p:spPr>
          <a:xfrm>
            <a:off x="822960" y="4526280"/>
            <a:ext cx="3008376" cy="667512"/>
          </a:xfrm>
          <a:prstGeom prst="rect">
            <a:avLst/>
          </a:prstGeom>
          <a:noFill/>
          <a:ln/>
        </p:spPr>
        <p:txBody>
          <a:bodyPr wrap="square" lIns="0" tIns="0" rIns="0" bIns="0" rtlCol="0" anchor="ctr"/>
          <a:lstStyle/>
          <a:p>
            <a:pPr indent="0" marL="0">
              <a:buNone/>
            </a:pPr>
            <a:r>
              <a:rPr lang="en-US" sz="1430" dirty="0">
                <a:solidFill>
                  <a:srgbClr val="526574"/>
                </a:solidFill>
                <a:latin typeface="Avenir Next" pitchFamily="34" charset="0"/>
                <a:ea typeface="Avenir Next" pitchFamily="34" charset="-122"/>
                <a:cs typeface="Avenir Next" pitchFamily="34" charset="-120"/>
              </a:rPr>
              <a:t>Map sources. Reconcile inventory.</a:t>
            </a:r>
            <a:endParaRPr lang="en-US" sz="1430" dirty="0"/>
          </a:p>
          <a:p>
            <a:pPr indent="0" marL="0">
              <a:buNone/>
            </a:pPr>
            <a:r>
              <a:rPr lang="en-US" sz="1430" dirty="0">
                <a:solidFill>
                  <a:srgbClr val="526574"/>
                </a:solidFill>
                <a:latin typeface="Avenir Next" pitchFamily="34" charset="0"/>
                <a:ea typeface="Avenir Next" pitchFamily="34" charset="-122"/>
                <a:cs typeface="Avenir Next" pitchFamily="34" charset="-120"/>
              </a:rPr>
              <a:t>Establish the baseline and permissions.</a:t>
            </a:r>
            <a:endParaRPr lang="en-US" sz="1430" dirty="0"/>
          </a:p>
        </p:txBody>
      </p:sp>
      <p:sp>
        <p:nvSpPr>
          <p:cNvPr id="13" name="Text 11"/>
          <p:cNvSpPr/>
          <p:nvPr/>
        </p:nvSpPr>
        <p:spPr>
          <a:xfrm>
            <a:off x="822960" y="5458968"/>
            <a:ext cx="2990088" cy="237744"/>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Gate: trusted source data</a:t>
            </a:r>
            <a:endParaRPr lang="en-US" sz="1200" dirty="0"/>
          </a:p>
        </p:txBody>
      </p:sp>
      <p:sp>
        <p:nvSpPr>
          <p:cNvPr id="14" name="Shape 12"/>
          <p:cNvSpPr/>
          <p:nvPr/>
        </p:nvSpPr>
        <p:spPr>
          <a:xfrm>
            <a:off x="4352544" y="2761488"/>
            <a:ext cx="3502152" cy="3182112"/>
          </a:xfrm>
          <a:prstGeom prst="roundRect">
            <a:avLst>
              <a:gd name="adj" fmla="val 3448"/>
            </a:avLst>
          </a:prstGeom>
          <a:solidFill>
            <a:srgbClr val="DDEEE8"/>
          </a:solidFill>
          <a:ln w="12700">
            <a:solidFill>
              <a:srgbClr val="DDEEE8"/>
            </a:solidFill>
            <a:prstDash val="solid"/>
          </a:ln>
        </p:spPr>
      </p:sp>
      <p:sp>
        <p:nvSpPr>
          <p:cNvPr id="15" name="Shape 13"/>
          <p:cNvSpPr/>
          <p:nvPr/>
        </p:nvSpPr>
        <p:spPr>
          <a:xfrm>
            <a:off x="4562856" y="2990088"/>
            <a:ext cx="1591056" cy="310896"/>
          </a:xfrm>
          <a:prstGeom prst="roundRect">
            <a:avLst>
              <a:gd name="adj" fmla="val 35294"/>
            </a:avLst>
          </a:prstGeom>
          <a:solidFill>
            <a:srgbClr val="007F78"/>
          </a:solidFill>
          <a:ln w="12700">
            <a:solidFill>
              <a:srgbClr val="007F78"/>
            </a:solidFill>
            <a:prstDash val="solid"/>
          </a:ln>
        </p:spPr>
      </p:sp>
      <p:sp>
        <p:nvSpPr>
          <p:cNvPr id="16" name="Text 14"/>
          <p:cNvSpPr/>
          <p:nvPr/>
        </p:nvSpPr>
        <p:spPr>
          <a:xfrm>
            <a:off x="4672584" y="2990088"/>
            <a:ext cx="1371600" cy="310896"/>
          </a:xfrm>
          <a:prstGeom prst="rect">
            <a:avLst/>
          </a:prstGeom>
          <a:noFill/>
          <a:ln/>
        </p:spPr>
        <p:txBody>
          <a:bodyPr wrap="square" lIns="0" tIns="0" rIns="0" bIns="0" rtlCol="0" anchor="ctr"/>
          <a:lstStyle/>
          <a:p>
            <a:pPr indent="0" marL="0">
              <a:buNone/>
            </a:pPr>
            <a:r>
              <a:rPr lang="en-US" sz="1050" b="1" dirty="0">
                <a:solidFill>
                  <a:srgbClr val="FFFFFF"/>
                </a:solidFill>
                <a:latin typeface="Avenir Next" pitchFamily="34" charset="0"/>
                <a:ea typeface="Avenir Next" pitchFamily="34" charset="-122"/>
                <a:cs typeface="Avenir Next" pitchFamily="34" charset="-120"/>
              </a:rPr>
              <a:t>DAYS 31–60</a:t>
            </a:r>
            <a:endParaRPr lang="en-US" sz="1050" dirty="0"/>
          </a:p>
        </p:txBody>
      </p:sp>
      <p:sp>
        <p:nvSpPr>
          <p:cNvPr id="17" name="Text 15"/>
          <p:cNvSpPr/>
          <p:nvPr/>
        </p:nvSpPr>
        <p:spPr>
          <a:xfrm>
            <a:off x="4572000" y="3657600"/>
            <a:ext cx="3026664" cy="512064"/>
          </a:xfrm>
          <a:prstGeom prst="rect">
            <a:avLst/>
          </a:prstGeom>
          <a:noFill/>
          <a:ln/>
        </p:spPr>
        <p:txBody>
          <a:bodyPr wrap="square" lIns="0" tIns="0" rIns="0" bIns="0" rtlCol="0" anchor="ctr"/>
          <a:lstStyle/>
          <a:p>
            <a:pPr indent="0" marL="0">
              <a:buNone/>
            </a:pPr>
            <a:r>
              <a:rPr lang="en-US" sz="2500" b="1" dirty="0">
                <a:solidFill>
                  <a:srgbClr val="16354A"/>
                </a:solidFill>
                <a:latin typeface="Avenir Next" pitchFamily="34" charset="0"/>
                <a:ea typeface="Avenir Next" pitchFamily="34" charset="-122"/>
                <a:cs typeface="Avenir Next" pitchFamily="34" charset="-120"/>
              </a:rPr>
              <a:t>Safe decisions</a:t>
            </a:r>
            <a:endParaRPr lang="en-US" sz="2500" dirty="0"/>
          </a:p>
        </p:txBody>
      </p:sp>
      <p:sp>
        <p:nvSpPr>
          <p:cNvPr id="18" name="Text 16"/>
          <p:cNvSpPr/>
          <p:nvPr/>
        </p:nvSpPr>
        <p:spPr>
          <a:xfrm>
            <a:off x="4581144" y="4526280"/>
            <a:ext cx="3008376" cy="667512"/>
          </a:xfrm>
          <a:prstGeom prst="rect">
            <a:avLst/>
          </a:prstGeom>
          <a:noFill/>
          <a:ln/>
        </p:spPr>
        <p:txBody>
          <a:bodyPr wrap="square" lIns="0" tIns="0" rIns="0" bIns="0" rtlCol="0" anchor="ctr"/>
          <a:lstStyle/>
          <a:p>
            <a:pPr indent="0" marL="0">
              <a:buNone/>
            </a:pPr>
            <a:r>
              <a:rPr lang="en-US" sz="1430" dirty="0">
                <a:solidFill>
                  <a:srgbClr val="526574"/>
                </a:solidFill>
                <a:latin typeface="Avenir Next" pitchFamily="34" charset="0"/>
                <a:ea typeface="Avenir Next" pitchFamily="34" charset="-122"/>
                <a:cs typeface="Avenir Next" pitchFamily="34" charset="-120"/>
              </a:rPr>
              <a:t>Add capacity and transport constraints.</a:t>
            </a:r>
            <a:endParaRPr lang="en-US" sz="1430" dirty="0"/>
          </a:p>
          <a:p>
            <a:pPr indent="0" marL="0">
              <a:buNone/>
            </a:pPr>
            <a:r>
              <a:rPr lang="en-US" sz="1430" dirty="0">
                <a:solidFill>
                  <a:srgbClr val="526574"/>
                </a:solidFill>
                <a:latin typeface="Avenir Next" pitchFamily="34" charset="0"/>
                <a:ea typeface="Avenir Next" pitchFamily="34" charset="-122"/>
                <a:cs typeface="Avenir Next" pitchFamily="34" charset="-120"/>
              </a:rPr>
              <a:t>Calibrate forecasts in shadow mode.</a:t>
            </a:r>
            <a:endParaRPr lang="en-US" sz="1430" dirty="0"/>
          </a:p>
        </p:txBody>
      </p:sp>
      <p:sp>
        <p:nvSpPr>
          <p:cNvPr id="19" name="Text 17"/>
          <p:cNvSpPr/>
          <p:nvPr/>
        </p:nvSpPr>
        <p:spPr>
          <a:xfrm>
            <a:off x="4581144" y="5458968"/>
            <a:ext cx="2990088" cy="237744"/>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Gate: feasible, reviewable plans</a:t>
            </a:r>
            <a:endParaRPr lang="en-US" sz="1200" dirty="0"/>
          </a:p>
        </p:txBody>
      </p:sp>
      <p:sp>
        <p:nvSpPr>
          <p:cNvPr id="20" name="Shape 18"/>
          <p:cNvSpPr/>
          <p:nvPr/>
        </p:nvSpPr>
        <p:spPr>
          <a:xfrm>
            <a:off x="8101584" y="2761488"/>
            <a:ext cx="3502152" cy="3182112"/>
          </a:xfrm>
          <a:prstGeom prst="roundRect">
            <a:avLst>
              <a:gd name="adj" fmla="val 3448"/>
            </a:avLst>
          </a:prstGeom>
          <a:solidFill>
            <a:srgbClr val="FFFFFF"/>
          </a:solidFill>
          <a:ln w="12700">
            <a:solidFill>
              <a:srgbClr val="FFFFFF"/>
            </a:solidFill>
            <a:prstDash val="solid"/>
          </a:ln>
        </p:spPr>
      </p:sp>
      <p:sp>
        <p:nvSpPr>
          <p:cNvPr id="21" name="Shape 19"/>
          <p:cNvSpPr/>
          <p:nvPr/>
        </p:nvSpPr>
        <p:spPr>
          <a:xfrm>
            <a:off x="8311896" y="2990088"/>
            <a:ext cx="1591056" cy="310896"/>
          </a:xfrm>
          <a:prstGeom prst="roundRect">
            <a:avLst>
              <a:gd name="adj" fmla="val 35294"/>
            </a:avLst>
          </a:prstGeom>
          <a:solidFill>
            <a:srgbClr val="E5EEE9"/>
          </a:solidFill>
          <a:ln w="12700">
            <a:solidFill>
              <a:srgbClr val="E5EEE9"/>
            </a:solidFill>
            <a:prstDash val="solid"/>
          </a:ln>
        </p:spPr>
      </p:sp>
      <p:sp>
        <p:nvSpPr>
          <p:cNvPr id="22" name="Text 20"/>
          <p:cNvSpPr/>
          <p:nvPr/>
        </p:nvSpPr>
        <p:spPr>
          <a:xfrm>
            <a:off x="8421624" y="2990088"/>
            <a:ext cx="1371600" cy="310896"/>
          </a:xfrm>
          <a:prstGeom prst="rect">
            <a:avLst/>
          </a:prstGeom>
          <a:noFill/>
          <a:ln/>
        </p:spPr>
        <p:txBody>
          <a:bodyPr wrap="square" lIns="0" tIns="0" rIns="0" bIns="0" rtlCol="0" anchor="ctr"/>
          <a:lstStyle/>
          <a:p>
            <a:pPr indent="0" marL="0">
              <a:buNone/>
            </a:pPr>
            <a:r>
              <a:rPr lang="en-US" sz="1050" b="1" dirty="0">
                <a:solidFill>
                  <a:srgbClr val="007F78"/>
                </a:solidFill>
                <a:latin typeface="Avenir Next" pitchFamily="34" charset="0"/>
                <a:ea typeface="Avenir Next" pitchFamily="34" charset="-122"/>
                <a:cs typeface="Avenir Next" pitchFamily="34" charset="-120"/>
              </a:rPr>
              <a:t>DAYS 61–90</a:t>
            </a:r>
            <a:endParaRPr lang="en-US" sz="1050" dirty="0"/>
          </a:p>
        </p:txBody>
      </p:sp>
      <p:sp>
        <p:nvSpPr>
          <p:cNvPr id="23" name="Text 21"/>
          <p:cNvSpPr/>
          <p:nvPr/>
        </p:nvSpPr>
        <p:spPr>
          <a:xfrm>
            <a:off x="8321040" y="3657600"/>
            <a:ext cx="3026664" cy="512064"/>
          </a:xfrm>
          <a:prstGeom prst="rect">
            <a:avLst/>
          </a:prstGeom>
          <a:noFill/>
          <a:ln/>
        </p:spPr>
        <p:txBody>
          <a:bodyPr wrap="square" lIns="0" tIns="0" rIns="0" bIns="0" rtlCol="0" anchor="ctr"/>
          <a:lstStyle/>
          <a:p>
            <a:pPr indent="0" marL="0">
              <a:buNone/>
            </a:pPr>
            <a:r>
              <a:rPr lang="en-US" sz="2500" b="1" dirty="0">
                <a:solidFill>
                  <a:srgbClr val="16354A"/>
                </a:solidFill>
                <a:latin typeface="Avenir Next" pitchFamily="34" charset="0"/>
                <a:ea typeface="Avenir Next" pitchFamily="34" charset="-122"/>
                <a:cs typeface="Avenir Next" pitchFamily="34" charset="-120"/>
              </a:rPr>
              <a:t>Measured value</a:t>
            </a:r>
            <a:endParaRPr lang="en-US" sz="2500" dirty="0"/>
          </a:p>
        </p:txBody>
      </p:sp>
      <p:sp>
        <p:nvSpPr>
          <p:cNvPr id="24" name="Text 22"/>
          <p:cNvSpPr/>
          <p:nvPr/>
        </p:nvSpPr>
        <p:spPr>
          <a:xfrm>
            <a:off x="8330184" y="4526280"/>
            <a:ext cx="3008376" cy="667512"/>
          </a:xfrm>
          <a:prstGeom prst="rect">
            <a:avLst/>
          </a:prstGeom>
          <a:noFill/>
          <a:ln/>
        </p:spPr>
        <p:txBody>
          <a:bodyPr wrap="square" lIns="0" tIns="0" rIns="0" bIns="0" rtlCol="0" anchor="ctr"/>
          <a:lstStyle/>
          <a:p>
            <a:pPr indent="0" marL="0">
              <a:buNone/>
            </a:pPr>
            <a:r>
              <a:rPr lang="en-US" sz="1430" dirty="0">
                <a:solidFill>
                  <a:srgbClr val="526574"/>
                </a:solidFill>
                <a:latin typeface="Avenir Next" pitchFamily="34" charset="0"/>
                <a:ea typeface="Avenir Next" pitchFamily="34" charset="-122"/>
                <a:cs typeface="Avenir Next" pitchFamily="34" charset="-120"/>
              </a:rPr>
              <a:t>Track actual decisions and outcomes.</a:t>
            </a:r>
            <a:endParaRPr lang="en-US" sz="1430" dirty="0"/>
          </a:p>
          <a:p>
            <a:pPr indent="0" marL="0">
              <a:buNone/>
            </a:pPr>
            <a:r>
              <a:rPr lang="en-US" sz="1430" dirty="0">
                <a:solidFill>
                  <a:srgbClr val="526574"/>
                </a:solidFill>
                <a:latin typeface="Avenir Next" pitchFamily="34" charset="0"/>
                <a:ea typeface="Avenir Next" pitchFamily="34" charset="-122"/>
                <a:cs typeface="Avenir Next" pitchFamily="34" charset="-120"/>
              </a:rPr>
              <a:t>Test adoption, pricing and delivery cost.</a:t>
            </a:r>
            <a:endParaRPr lang="en-US" sz="1430" dirty="0"/>
          </a:p>
        </p:txBody>
      </p:sp>
      <p:sp>
        <p:nvSpPr>
          <p:cNvPr id="25" name="Text 23"/>
          <p:cNvSpPr/>
          <p:nvPr/>
        </p:nvSpPr>
        <p:spPr>
          <a:xfrm>
            <a:off x="8330184" y="5458968"/>
            <a:ext cx="2990088" cy="237744"/>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Gate: paid-deployment decision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032"/>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65D9BE"/>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A9C1CC"/>
                </a:solidFill>
                <a:latin typeface="Avenir Next" pitchFamily="34" charset="0"/>
                <a:ea typeface="Avenir Next" pitchFamily="34" charset="-122"/>
                <a:cs typeface="Avenir Next" pitchFamily="34" charset="-120"/>
              </a:rPr>
              <a:t>THE INVESTMENT CONVERSATION</a:t>
            </a:r>
            <a:endParaRPr lang="en-US" sz="1050" dirty="0"/>
          </a:p>
        </p:txBody>
      </p:sp>
      <p:sp>
        <p:nvSpPr>
          <p:cNvPr id="4" name="Text 2"/>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A9C1CC"/>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5" name="Text 3"/>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65D9BE"/>
                </a:solidFill>
                <a:latin typeface="Avenir Next" pitchFamily="34" charset="0"/>
                <a:ea typeface="Avenir Next" pitchFamily="34" charset="-122"/>
                <a:cs typeface="Avenir Next" pitchFamily="34" charset="-120"/>
              </a:rPr>
              <a:t>12</a:t>
            </a:r>
            <a:endParaRPr lang="en-US" sz="1100" dirty="0"/>
          </a:p>
        </p:txBody>
      </p:sp>
      <p:sp>
        <p:nvSpPr>
          <p:cNvPr id="6" name="Text 4"/>
          <p:cNvSpPr/>
          <p:nvPr/>
        </p:nvSpPr>
        <p:spPr>
          <a:xfrm>
            <a:off x="594360" y="1271016"/>
            <a:ext cx="10936224" cy="1508760"/>
          </a:xfrm>
          <a:prstGeom prst="rect">
            <a:avLst/>
          </a:prstGeom>
          <a:noFill/>
          <a:ln/>
        </p:spPr>
        <p:txBody>
          <a:bodyPr wrap="square" lIns="0" tIns="0" rIns="0" bIns="0" rtlCol="0" anchor="t"/>
          <a:lstStyle/>
          <a:p>
            <a:pPr indent="0" marL="0">
              <a:buNone/>
            </a:pPr>
            <a:r>
              <a:rPr lang="en-US" sz="4300" b="1" dirty="0">
                <a:solidFill>
                  <a:srgbClr val="FFFFFF"/>
                </a:solidFill>
                <a:latin typeface="Avenir Next" pitchFamily="34" charset="0"/>
                <a:ea typeface="Avenir Next" pitchFamily="34" charset="-122"/>
                <a:cs typeface="Avenir Next" pitchFamily="34" charset="-120"/>
              </a:rPr>
              <a:t>Back a disciplined path</a:t>
            </a:r>
            <a:endParaRPr lang="en-US" sz="4300" dirty="0"/>
          </a:p>
          <a:p>
            <a:pPr indent="0" marL="0">
              <a:buNone/>
            </a:pPr>
            <a:r>
              <a:rPr lang="en-US" sz="4300" b="1" dirty="0">
                <a:solidFill>
                  <a:srgbClr val="FFFFFF"/>
                </a:solidFill>
                <a:latin typeface="Avenir Next" pitchFamily="34" charset="0"/>
                <a:ea typeface="Avenir Next" pitchFamily="34" charset="-122"/>
                <a:cs typeface="Avenir Next" pitchFamily="34" charset="-120"/>
              </a:rPr>
              <a:t>from prototype to paid pilot.</a:t>
            </a:r>
            <a:endParaRPr lang="en-US" sz="4300" dirty="0"/>
          </a:p>
        </p:txBody>
      </p:sp>
      <p:sp>
        <p:nvSpPr>
          <p:cNvPr id="7" name="Text 5"/>
          <p:cNvSpPr/>
          <p:nvPr/>
        </p:nvSpPr>
        <p:spPr>
          <a:xfrm>
            <a:off x="640080" y="3145536"/>
            <a:ext cx="10707624" cy="512064"/>
          </a:xfrm>
          <a:prstGeom prst="rect">
            <a:avLst/>
          </a:prstGeom>
          <a:noFill/>
          <a:ln/>
        </p:spPr>
        <p:txBody>
          <a:bodyPr wrap="square" lIns="0" tIns="0" rIns="0" bIns="0" rtlCol="0" anchor="ctr"/>
          <a:lstStyle/>
          <a:p>
            <a:pPr indent="0" marL="0">
              <a:buNone/>
            </a:pPr>
            <a:r>
              <a:rPr lang="en-US" sz="2200" b="1" dirty="0">
                <a:solidFill>
                  <a:srgbClr val="65D9BE"/>
                </a:solidFill>
                <a:latin typeface="Avenir Next" pitchFamily="34" charset="0"/>
                <a:ea typeface="Avenir Next" pitchFamily="34" charset="-122"/>
                <a:cs typeface="Avenir Next" pitchFamily="34" charset="-120"/>
              </a:rPr>
              <a:t>The next milestone is commercial proof—not more demo features.</a:t>
            </a:r>
            <a:endParaRPr lang="en-US" sz="2200" dirty="0"/>
          </a:p>
        </p:txBody>
      </p:sp>
      <p:sp>
        <p:nvSpPr>
          <p:cNvPr id="8" name="Shape 6"/>
          <p:cNvSpPr/>
          <p:nvPr/>
        </p:nvSpPr>
        <p:spPr>
          <a:xfrm>
            <a:off x="621792" y="4279392"/>
            <a:ext cx="3456432" cy="1554480"/>
          </a:xfrm>
          <a:prstGeom prst="roundRect">
            <a:avLst>
              <a:gd name="adj" fmla="val 7059"/>
            </a:avLst>
          </a:prstGeom>
          <a:solidFill>
            <a:srgbClr val="123349"/>
          </a:solidFill>
          <a:ln w="12700">
            <a:solidFill>
              <a:srgbClr val="123349"/>
            </a:solidFill>
            <a:prstDash val="solid"/>
          </a:ln>
        </p:spPr>
      </p:sp>
      <p:sp>
        <p:nvSpPr>
          <p:cNvPr id="9" name="Text 7"/>
          <p:cNvSpPr/>
          <p:nvPr/>
        </p:nvSpPr>
        <p:spPr>
          <a:xfrm>
            <a:off x="832104" y="4498848"/>
            <a:ext cx="3008376" cy="265176"/>
          </a:xfrm>
          <a:prstGeom prst="rect">
            <a:avLst/>
          </a:prstGeom>
          <a:noFill/>
          <a:ln/>
        </p:spPr>
        <p:txBody>
          <a:bodyPr wrap="square" lIns="0" tIns="0" rIns="0" bIns="0" rtlCol="0" anchor="ctr"/>
          <a:lstStyle/>
          <a:p>
            <a:pPr indent="0" marL="0">
              <a:buNone/>
            </a:pPr>
            <a:r>
              <a:rPr lang="en-US" sz="1180" b="1" dirty="0">
                <a:solidFill>
                  <a:srgbClr val="65D9BE"/>
                </a:solidFill>
                <a:latin typeface="Avenir Next" pitchFamily="34" charset="0"/>
                <a:ea typeface="Avenir Next" pitchFamily="34" charset="-122"/>
                <a:cs typeface="Avenir Next" pitchFamily="34" charset="-120"/>
              </a:rPr>
              <a:t>CAPITAL FOR</a:t>
            </a:r>
            <a:endParaRPr lang="en-US" sz="1180" dirty="0"/>
          </a:p>
        </p:txBody>
      </p:sp>
      <p:sp>
        <p:nvSpPr>
          <p:cNvPr id="10" name="Text 8"/>
          <p:cNvSpPr/>
          <p:nvPr/>
        </p:nvSpPr>
        <p:spPr>
          <a:xfrm>
            <a:off x="841248" y="5038344"/>
            <a:ext cx="2999232" cy="594360"/>
          </a:xfrm>
          <a:prstGeom prst="rect">
            <a:avLst/>
          </a:prstGeom>
          <a:noFill/>
          <a:ln/>
        </p:spPr>
        <p:txBody>
          <a:bodyPr wrap="square" lIns="0" tIns="0" rIns="0" bIns="0" rtlCol="0" anchor="t"/>
          <a:lstStyle/>
          <a:p>
            <a:pPr indent="0" marL="0">
              <a:buNone/>
            </a:pPr>
            <a:r>
              <a:rPr lang="en-US" sz="1500" dirty="0">
                <a:solidFill>
                  <a:srgbClr val="FFFFFF"/>
                </a:solidFill>
                <a:latin typeface="Avenir Next" pitchFamily="34" charset="0"/>
                <a:ea typeface="Avenir Next" pitchFamily="34" charset="-122"/>
                <a:cs typeface="Avenir Next" pitchFamily="34" charset="-120"/>
              </a:rPr>
              <a:t>Trusted data, a safer product</a:t>
            </a:r>
            <a:endParaRPr lang="en-US" sz="1500" dirty="0"/>
          </a:p>
          <a:p>
            <a:pPr indent="0" marL="0">
              <a:buNone/>
            </a:pPr>
            <a:r>
              <a:rPr lang="en-US" sz="1500" dirty="0">
                <a:solidFill>
                  <a:srgbClr val="FFFFFF"/>
                </a:solidFill>
                <a:latin typeface="Avenir Next" pitchFamily="34" charset="0"/>
                <a:ea typeface="Avenir Next" pitchFamily="34" charset="-122"/>
                <a:cs typeface="Avenir Next" pitchFamily="34" charset="-120"/>
              </a:rPr>
              <a:t>and a measured pilot.</a:t>
            </a:r>
            <a:endParaRPr lang="en-US" sz="1500" dirty="0"/>
          </a:p>
        </p:txBody>
      </p:sp>
      <p:sp>
        <p:nvSpPr>
          <p:cNvPr id="11" name="Shape 9"/>
          <p:cNvSpPr/>
          <p:nvPr/>
        </p:nvSpPr>
        <p:spPr>
          <a:xfrm>
            <a:off x="4361688" y="4279392"/>
            <a:ext cx="3456432" cy="1554480"/>
          </a:xfrm>
          <a:prstGeom prst="roundRect">
            <a:avLst>
              <a:gd name="adj" fmla="val 7059"/>
            </a:avLst>
          </a:prstGeom>
          <a:solidFill>
            <a:srgbClr val="123349"/>
          </a:solidFill>
          <a:ln w="12700">
            <a:solidFill>
              <a:srgbClr val="123349"/>
            </a:solidFill>
            <a:prstDash val="solid"/>
          </a:ln>
        </p:spPr>
      </p:sp>
      <p:sp>
        <p:nvSpPr>
          <p:cNvPr id="12" name="Text 10"/>
          <p:cNvSpPr/>
          <p:nvPr/>
        </p:nvSpPr>
        <p:spPr>
          <a:xfrm>
            <a:off x="4572000" y="4498848"/>
            <a:ext cx="3008376" cy="265176"/>
          </a:xfrm>
          <a:prstGeom prst="rect">
            <a:avLst/>
          </a:prstGeom>
          <a:noFill/>
          <a:ln/>
        </p:spPr>
        <p:txBody>
          <a:bodyPr wrap="square" lIns="0" tIns="0" rIns="0" bIns="0" rtlCol="0" anchor="ctr"/>
          <a:lstStyle/>
          <a:p>
            <a:pPr indent="0" marL="0">
              <a:buNone/>
            </a:pPr>
            <a:r>
              <a:rPr lang="en-US" sz="1180" b="1" dirty="0">
                <a:solidFill>
                  <a:srgbClr val="65D9BE"/>
                </a:solidFill>
                <a:latin typeface="Avenir Next" pitchFamily="34" charset="0"/>
                <a:ea typeface="Avenir Next" pitchFamily="34" charset="-122"/>
                <a:cs typeface="Avenir Next" pitchFamily="34" charset="-120"/>
              </a:rPr>
              <a:t>INTRODUCTIONS TO</a:t>
            </a:r>
            <a:endParaRPr lang="en-US" sz="1180" dirty="0"/>
          </a:p>
        </p:txBody>
      </p:sp>
      <p:sp>
        <p:nvSpPr>
          <p:cNvPr id="13" name="Text 11"/>
          <p:cNvSpPr/>
          <p:nvPr/>
        </p:nvSpPr>
        <p:spPr>
          <a:xfrm>
            <a:off x="4581144" y="5038344"/>
            <a:ext cx="2999232" cy="594360"/>
          </a:xfrm>
          <a:prstGeom prst="rect">
            <a:avLst/>
          </a:prstGeom>
          <a:noFill/>
          <a:ln/>
        </p:spPr>
        <p:txBody>
          <a:bodyPr wrap="square" lIns="0" tIns="0" rIns="0" bIns="0" rtlCol="0" anchor="t"/>
          <a:lstStyle/>
          <a:p>
            <a:pPr indent="0" marL="0">
              <a:buNone/>
            </a:pPr>
            <a:r>
              <a:rPr lang="en-US" sz="1500" dirty="0">
                <a:solidFill>
                  <a:srgbClr val="FFFFFF"/>
                </a:solidFill>
                <a:latin typeface="Avenir Next" pitchFamily="34" charset="0"/>
                <a:ea typeface="Avenir Next" pitchFamily="34" charset="-122"/>
                <a:cs typeface="Avenir Next" pitchFamily="34" charset="-120"/>
              </a:rPr>
              <a:t>Design partners and operators</a:t>
            </a:r>
            <a:endParaRPr lang="en-US" sz="1500" dirty="0"/>
          </a:p>
          <a:p>
            <a:pPr indent="0" marL="0">
              <a:buNone/>
            </a:pPr>
            <a:r>
              <a:rPr lang="en-US" sz="1500" dirty="0">
                <a:solidFill>
                  <a:srgbClr val="FFFFFF"/>
                </a:solidFill>
                <a:latin typeface="Avenir Next" pitchFamily="34" charset="0"/>
                <a:ea typeface="Avenir Next" pitchFamily="34" charset="-122"/>
                <a:cs typeface="Avenir Next" pitchFamily="34" charset="-120"/>
              </a:rPr>
              <a:t>who own inventory decisions.</a:t>
            </a:r>
            <a:endParaRPr lang="en-US" sz="1500" dirty="0"/>
          </a:p>
        </p:txBody>
      </p:sp>
      <p:sp>
        <p:nvSpPr>
          <p:cNvPr id="14" name="Shape 12"/>
          <p:cNvSpPr/>
          <p:nvPr/>
        </p:nvSpPr>
        <p:spPr>
          <a:xfrm>
            <a:off x="8101584" y="4279392"/>
            <a:ext cx="3456432" cy="1554480"/>
          </a:xfrm>
          <a:prstGeom prst="roundRect">
            <a:avLst>
              <a:gd name="adj" fmla="val 7059"/>
            </a:avLst>
          </a:prstGeom>
          <a:solidFill>
            <a:srgbClr val="123349"/>
          </a:solidFill>
          <a:ln w="12700">
            <a:solidFill>
              <a:srgbClr val="123349"/>
            </a:solidFill>
            <a:prstDash val="solid"/>
          </a:ln>
        </p:spPr>
      </p:sp>
      <p:sp>
        <p:nvSpPr>
          <p:cNvPr id="15" name="Text 13"/>
          <p:cNvSpPr/>
          <p:nvPr/>
        </p:nvSpPr>
        <p:spPr>
          <a:xfrm>
            <a:off x="8311896" y="4498848"/>
            <a:ext cx="3008376" cy="265176"/>
          </a:xfrm>
          <a:prstGeom prst="rect">
            <a:avLst/>
          </a:prstGeom>
          <a:noFill/>
          <a:ln/>
        </p:spPr>
        <p:txBody>
          <a:bodyPr wrap="square" lIns="0" tIns="0" rIns="0" bIns="0" rtlCol="0" anchor="ctr"/>
          <a:lstStyle/>
          <a:p>
            <a:pPr indent="0" marL="0">
              <a:buNone/>
            </a:pPr>
            <a:r>
              <a:rPr lang="en-US" sz="1180" b="1" dirty="0">
                <a:solidFill>
                  <a:srgbClr val="65D9BE"/>
                </a:solidFill>
                <a:latin typeface="Avenir Next" pitchFamily="34" charset="0"/>
                <a:ea typeface="Avenir Next" pitchFamily="34" charset="-122"/>
                <a:cs typeface="Avenir Next" pitchFamily="34" charset="-120"/>
              </a:rPr>
              <a:t>TERMS TO DEFINE</a:t>
            </a:r>
            <a:endParaRPr lang="en-US" sz="1180" dirty="0"/>
          </a:p>
        </p:txBody>
      </p:sp>
      <p:sp>
        <p:nvSpPr>
          <p:cNvPr id="16" name="Text 14"/>
          <p:cNvSpPr/>
          <p:nvPr/>
        </p:nvSpPr>
        <p:spPr>
          <a:xfrm>
            <a:off x="8321040" y="5038344"/>
            <a:ext cx="2999232" cy="594360"/>
          </a:xfrm>
          <a:prstGeom prst="rect">
            <a:avLst/>
          </a:prstGeom>
          <a:noFill/>
          <a:ln/>
        </p:spPr>
        <p:txBody>
          <a:bodyPr wrap="square" lIns="0" tIns="0" rIns="0" bIns="0" rtlCol="0" anchor="t"/>
          <a:lstStyle/>
          <a:p>
            <a:pPr indent="0" marL="0">
              <a:buNone/>
            </a:pPr>
            <a:r>
              <a:rPr lang="en-US" sz="1500" dirty="0">
                <a:solidFill>
                  <a:srgbClr val="FFFFFF"/>
                </a:solidFill>
                <a:latin typeface="Avenir Next" pitchFamily="34" charset="0"/>
                <a:ea typeface="Avenir Next" pitchFamily="34" charset="-122"/>
                <a:cs typeface="Avenir Next" pitchFamily="34" charset="-120"/>
              </a:rPr>
              <a:t>Raise size, valuation and runway</a:t>
            </a:r>
            <a:endParaRPr lang="en-US" sz="1500" dirty="0"/>
          </a:p>
          <a:p>
            <a:pPr indent="0" marL="0">
              <a:buNone/>
            </a:pPr>
            <a:r>
              <a:rPr lang="en-US" sz="1500" dirty="0">
                <a:solidFill>
                  <a:srgbClr val="FFFFFF"/>
                </a:solidFill>
                <a:latin typeface="Avenir Next" pitchFamily="34" charset="0"/>
                <a:ea typeface="Avenir Next" pitchFamily="34" charset="-122"/>
                <a:cs typeface="Avenir Next" pitchFamily="34" charset="-120"/>
              </a:rPr>
              <a:t>after the pilot budget is agreed.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APPENDIX / EVIDENCE &amp; LIMITATIONS</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Working software. Transparent evidence.</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Engineering evidence is not customer traction, and one synthetic backtest is not validation at scale.</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Sources: eval_report.md; pytest run in the project virtual environment (49 passed,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13</a:t>
            </a:r>
            <a:endParaRPr lang="en-US" sz="1100" dirty="0"/>
          </a:p>
        </p:txBody>
      </p:sp>
      <p:sp>
        <p:nvSpPr>
          <p:cNvPr id="8" name="Shape 6"/>
          <p:cNvSpPr/>
          <p:nvPr/>
        </p:nvSpPr>
        <p:spPr>
          <a:xfrm>
            <a:off x="594360" y="2679192"/>
            <a:ext cx="3502152" cy="3364992"/>
          </a:xfrm>
          <a:prstGeom prst="roundRect">
            <a:avLst>
              <a:gd name="adj" fmla="val 3261"/>
            </a:avLst>
          </a:prstGeom>
          <a:solidFill>
            <a:srgbClr val="102A43"/>
          </a:solidFill>
          <a:ln w="12700">
            <a:solidFill>
              <a:srgbClr val="102A43"/>
            </a:solidFill>
            <a:prstDash val="solid"/>
          </a:ln>
        </p:spPr>
      </p:sp>
      <p:sp>
        <p:nvSpPr>
          <p:cNvPr id="9" name="Text 7"/>
          <p:cNvSpPr/>
          <p:nvPr/>
        </p:nvSpPr>
        <p:spPr>
          <a:xfrm>
            <a:off x="859536" y="2871216"/>
            <a:ext cx="2898648" cy="658368"/>
          </a:xfrm>
          <a:prstGeom prst="rect">
            <a:avLst/>
          </a:prstGeom>
          <a:noFill/>
          <a:ln/>
        </p:spPr>
        <p:txBody>
          <a:bodyPr wrap="square" lIns="0" tIns="0" rIns="0" bIns="0" rtlCol="0" anchor="ctr"/>
          <a:lstStyle/>
          <a:p>
            <a:pPr indent="0" marL="0">
              <a:buNone/>
            </a:pPr>
            <a:r>
              <a:rPr lang="en-US" sz="4500" b="1" dirty="0">
                <a:solidFill>
                  <a:srgbClr val="FFFFFF"/>
                </a:solidFill>
                <a:latin typeface="Avenir Next" pitchFamily="34" charset="0"/>
                <a:ea typeface="Avenir Next" pitchFamily="34" charset="-122"/>
                <a:cs typeface="Avenir Next" pitchFamily="34" charset="-120"/>
              </a:rPr>
              <a:t>49 / 49</a:t>
            </a:r>
            <a:endParaRPr lang="en-US" sz="4500" dirty="0"/>
          </a:p>
        </p:txBody>
      </p:sp>
      <p:sp>
        <p:nvSpPr>
          <p:cNvPr id="10" name="Text 8"/>
          <p:cNvSpPr/>
          <p:nvPr/>
        </p:nvSpPr>
        <p:spPr>
          <a:xfrm>
            <a:off x="896112" y="3657600"/>
            <a:ext cx="2889504" cy="283464"/>
          </a:xfrm>
          <a:prstGeom prst="rect">
            <a:avLst/>
          </a:prstGeom>
          <a:noFill/>
          <a:ln/>
        </p:spPr>
        <p:txBody>
          <a:bodyPr wrap="square" lIns="0" tIns="0" rIns="0" bIns="0" rtlCol="0" anchor="ctr"/>
          <a:lstStyle/>
          <a:p>
            <a:pPr indent="0" marL="0">
              <a:buNone/>
            </a:pPr>
            <a:r>
              <a:rPr lang="en-US" sz="1700" dirty="0">
                <a:solidFill>
                  <a:srgbClr val="A9C1CC"/>
                </a:solidFill>
                <a:latin typeface="Avenir Next" pitchFamily="34" charset="0"/>
                <a:ea typeface="Avenir Next" pitchFamily="34" charset="-122"/>
                <a:cs typeface="Avenir Next" pitchFamily="34" charset="-120"/>
              </a:rPr>
              <a:t>automated tests passed</a:t>
            </a:r>
            <a:endParaRPr lang="en-US" sz="1700" dirty="0"/>
          </a:p>
        </p:txBody>
      </p:sp>
      <p:sp>
        <p:nvSpPr>
          <p:cNvPr id="11" name="Text 9"/>
          <p:cNvSpPr/>
          <p:nvPr/>
        </p:nvSpPr>
        <p:spPr>
          <a:xfrm>
            <a:off x="859536" y="4251960"/>
            <a:ext cx="2898648" cy="658368"/>
          </a:xfrm>
          <a:prstGeom prst="rect">
            <a:avLst/>
          </a:prstGeom>
          <a:noFill/>
          <a:ln/>
        </p:spPr>
        <p:txBody>
          <a:bodyPr wrap="square" lIns="0" tIns="0" rIns="0" bIns="0" rtlCol="0" anchor="ctr"/>
          <a:lstStyle/>
          <a:p>
            <a:pPr indent="0" marL="0">
              <a:buNone/>
            </a:pPr>
            <a:r>
              <a:rPr lang="en-US" sz="4500" b="1" dirty="0">
                <a:solidFill>
                  <a:srgbClr val="65D9BE"/>
                </a:solidFill>
                <a:latin typeface="Avenir Next" pitchFamily="34" charset="0"/>
                <a:ea typeface="Avenir Next" pitchFamily="34" charset="-122"/>
                <a:cs typeface="Avenir Next" pitchFamily="34" charset="-120"/>
              </a:rPr>
              <a:t>30 / 30</a:t>
            </a:r>
            <a:endParaRPr lang="en-US" sz="4500" dirty="0"/>
          </a:p>
        </p:txBody>
      </p:sp>
      <p:sp>
        <p:nvSpPr>
          <p:cNvPr id="12" name="Text 10"/>
          <p:cNvSpPr/>
          <p:nvPr/>
        </p:nvSpPr>
        <p:spPr>
          <a:xfrm>
            <a:off x="896112" y="5047488"/>
            <a:ext cx="2898648" cy="484632"/>
          </a:xfrm>
          <a:prstGeom prst="rect">
            <a:avLst/>
          </a:prstGeom>
          <a:noFill/>
          <a:ln/>
        </p:spPr>
        <p:txBody>
          <a:bodyPr wrap="square" lIns="0" tIns="0" rIns="0" bIns="0" rtlCol="0" anchor="ctr"/>
          <a:lstStyle/>
          <a:p>
            <a:pPr indent="0" marL="0">
              <a:buNone/>
            </a:pPr>
            <a:r>
              <a:rPr lang="en-US" sz="1700" dirty="0">
                <a:solidFill>
                  <a:srgbClr val="A9C1CC"/>
                </a:solidFill>
                <a:latin typeface="Avenir Next" pitchFamily="34" charset="0"/>
                <a:ea typeface="Avenir Next" pitchFamily="34" charset="-122"/>
                <a:cs typeface="Avenir Next" pitchFamily="34" charset="-120"/>
              </a:rPr>
              <a:t>planted-case checks passed</a:t>
            </a:r>
            <a:endParaRPr lang="en-US" sz="1700" dirty="0"/>
          </a:p>
        </p:txBody>
      </p:sp>
      <p:sp>
        <p:nvSpPr>
          <p:cNvPr id="13" name="Text 11"/>
          <p:cNvSpPr/>
          <p:nvPr/>
        </p:nvSpPr>
        <p:spPr>
          <a:xfrm>
            <a:off x="4489704" y="2715768"/>
            <a:ext cx="6830568" cy="246888"/>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30-day total WAPE</a:t>
            </a:r>
            <a:endParaRPr lang="en-US" sz="1200" dirty="0"/>
          </a:p>
        </p:txBody>
      </p:sp>
      <p:sp>
        <p:nvSpPr>
          <p:cNvPr id="14" name="Text 12"/>
          <p:cNvSpPr/>
          <p:nvPr/>
        </p:nvSpPr>
        <p:spPr>
          <a:xfrm>
            <a:off x="4489704" y="3063240"/>
            <a:ext cx="6821424" cy="35661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14.48% model / 15.16% baseline</a:t>
            </a:r>
            <a:endParaRPr lang="en-US" sz="2100" dirty="0"/>
          </a:p>
        </p:txBody>
      </p:sp>
      <p:sp>
        <p:nvSpPr>
          <p:cNvPr id="15" name="Text 13"/>
          <p:cNvSpPr/>
          <p:nvPr/>
        </p:nvSpPr>
        <p:spPr>
          <a:xfrm>
            <a:off x="4507992" y="3529584"/>
            <a:ext cx="6720840" cy="256032"/>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A small aggregate improvement on this split.</a:t>
            </a:r>
            <a:endParaRPr lang="en-US" sz="1400" dirty="0"/>
          </a:p>
        </p:txBody>
      </p:sp>
      <p:sp>
        <p:nvSpPr>
          <p:cNvPr id="16" name="Text 14"/>
          <p:cNvSpPr/>
          <p:nvPr/>
        </p:nvSpPr>
        <p:spPr>
          <a:xfrm>
            <a:off x="4489704" y="3849624"/>
            <a:ext cx="6830568" cy="246888"/>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Daily-demand WAPE</a:t>
            </a:r>
            <a:endParaRPr lang="en-US" sz="1200" dirty="0"/>
          </a:p>
        </p:txBody>
      </p:sp>
      <p:sp>
        <p:nvSpPr>
          <p:cNvPr id="17" name="Text 15"/>
          <p:cNvSpPr/>
          <p:nvPr/>
        </p:nvSpPr>
        <p:spPr>
          <a:xfrm>
            <a:off x="4489704" y="4197096"/>
            <a:ext cx="6821424" cy="35661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62.37% model / 60.00% baseline</a:t>
            </a:r>
            <a:endParaRPr lang="en-US" sz="2100" dirty="0"/>
          </a:p>
        </p:txBody>
      </p:sp>
      <p:sp>
        <p:nvSpPr>
          <p:cNvPr id="18" name="Text 16"/>
          <p:cNvSpPr/>
          <p:nvPr/>
        </p:nvSpPr>
        <p:spPr>
          <a:xfrm>
            <a:off x="4507992" y="4663440"/>
            <a:ext cx="6720840" cy="256032"/>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The model does not beat the daily baseline.</a:t>
            </a:r>
            <a:endParaRPr lang="en-US" sz="1400" dirty="0"/>
          </a:p>
        </p:txBody>
      </p:sp>
      <p:sp>
        <p:nvSpPr>
          <p:cNvPr id="19" name="Text 17"/>
          <p:cNvSpPr/>
          <p:nvPr/>
        </p:nvSpPr>
        <p:spPr>
          <a:xfrm>
            <a:off x="4489704" y="4983480"/>
            <a:ext cx="6830568" cy="246888"/>
          </a:xfrm>
          <a:prstGeom prst="rect">
            <a:avLst/>
          </a:prstGeom>
          <a:noFill/>
          <a:ln/>
        </p:spPr>
        <p:txBody>
          <a:bodyPr wrap="square" lIns="0" tIns="0" rIns="0" bIns="0" rtlCol="0" anchor="ctr"/>
          <a:lstStyle/>
          <a:p>
            <a:pPr indent="0" marL="0">
              <a:buNone/>
            </a:pPr>
            <a:r>
              <a:rPr lang="en-US" sz="1200" b="1" dirty="0">
                <a:solidFill>
                  <a:srgbClr val="007F78"/>
                </a:solidFill>
                <a:latin typeface="Avenir Next" pitchFamily="34" charset="0"/>
                <a:ea typeface="Avenir Next" pitchFamily="34" charset="-122"/>
                <a:cs typeface="Avenir Next" pitchFamily="34" charset="-120"/>
              </a:rPr>
              <a:t>P10–P90 coverage</a:t>
            </a:r>
            <a:endParaRPr lang="en-US" sz="1200" dirty="0"/>
          </a:p>
        </p:txBody>
      </p:sp>
      <p:sp>
        <p:nvSpPr>
          <p:cNvPr id="20" name="Text 18"/>
          <p:cNvSpPr/>
          <p:nvPr/>
        </p:nvSpPr>
        <p:spPr>
          <a:xfrm>
            <a:off x="4489704" y="5330952"/>
            <a:ext cx="6821424" cy="356616"/>
          </a:xfrm>
          <a:prstGeom prst="rect">
            <a:avLst/>
          </a:prstGeom>
          <a:noFill/>
          <a:ln/>
        </p:spPr>
        <p:txBody>
          <a:bodyPr wrap="square" lIns="0" tIns="0" rIns="0" bIns="0" rtlCol="0" anchor="ctr"/>
          <a:lstStyle/>
          <a:p>
            <a:pPr indent="0" marL="0">
              <a:buNone/>
            </a:pPr>
            <a:r>
              <a:rPr lang="en-US" sz="2100" b="1" dirty="0">
                <a:solidFill>
                  <a:srgbClr val="16354A"/>
                </a:solidFill>
                <a:latin typeface="Avenir Next" pitchFamily="34" charset="0"/>
                <a:ea typeface="Avenir Next" pitchFamily="34" charset="-122"/>
                <a:cs typeface="Avenir Next" pitchFamily="34" charset="-120"/>
              </a:rPr>
              <a:t>56.67% observed / 80% nominal</a:t>
            </a:r>
            <a:endParaRPr lang="en-US" sz="2100" dirty="0"/>
          </a:p>
        </p:txBody>
      </p:sp>
      <p:sp>
        <p:nvSpPr>
          <p:cNvPr id="21" name="Text 19"/>
          <p:cNvSpPr/>
          <p:nvPr/>
        </p:nvSpPr>
        <p:spPr>
          <a:xfrm>
            <a:off x="4507992" y="5797296"/>
            <a:ext cx="6720840" cy="256032"/>
          </a:xfrm>
          <a:prstGeom prst="rect">
            <a:avLst/>
          </a:prstGeom>
          <a:noFill/>
          <a:ln/>
        </p:spPr>
        <p:txBody>
          <a:bodyPr wrap="square" lIns="0" tIns="0" rIns="0" bIns="0" rtlCol="0" anchor="ctr"/>
          <a:lstStyle/>
          <a:p>
            <a:pPr indent="0" marL="0">
              <a:buNone/>
            </a:pPr>
            <a:r>
              <a:rPr lang="en-US" sz="1400" dirty="0">
                <a:solidFill>
                  <a:srgbClr val="526574"/>
                </a:solidFill>
                <a:latin typeface="Avenir Next" pitchFamily="34" charset="0"/>
                <a:ea typeface="Avenir Next" pitchFamily="34" charset="-122"/>
                <a:cs typeface="Avenir Next" pitchFamily="34" charset="-120"/>
              </a:rPr>
              <a:t>Intervals need calibration before a real pilot.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566928" y="283464"/>
            <a:ext cx="1920240" cy="256032"/>
          </a:xfrm>
          <a:prstGeom prst="rect">
            <a:avLst/>
          </a:prstGeom>
          <a:noFill/>
          <a:ln/>
        </p:spPr>
        <p:txBody>
          <a:bodyPr wrap="square" lIns="0" tIns="0" rIns="0" bIns="0" rtlCol="0" anchor="ctr"/>
          <a:lstStyle/>
          <a:p>
            <a:pPr indent="0" marL="0">
              <a:buNone/>
            </a:pPr>
            <a:r>
              <a:rPr lang="en-US" sz="1200" b="1" spc="220" kern="0" dirty="0">
                <a:solidFill>
                  <a:srgbClr val="007F78"/>
                </a:solidFill>
                <a:latin typeface="Avenir Next" pitchFamily="34" charset="0"/>
                <a:ea typeface="Avenir Next" pitchFamily="34" charset="-122"/>
                <a:cs typeface="Avenir Next" pitchFamily="34" charset="-120"/>
              </a:rPr>
              <a:t>GULFTRADE</a:t>
            </a:r>
            <a:endParaRPr lang="en-US" sz="1200" dirty="0"/>
          </a:p>
        </p:txBody>
      </p:sp>
      <p:sp>
        <p:nvSpPr>
          <p:cNvPr id="3" name="Text 1"/>
          <p:cNvSpPr/>
          <p:nvPr/>
        </p:nvSpPr>
        <p:spPr>
          <a:xfrm>
            <a:off x="7955280" y="283464"/>
            <a:ext cx="3657600" cy="256032"/>
          </a:xfrm>
          <a:prstGeom prst="rect">
            <a:avLst/>
          </a:prstGeom>
          <a:noFill/>
          <a:ln/>
        </p:spPr>
        <p:txBody>
          <a:bodyPr wrap="square" lIns="0" tIns="0" rIns="0" bIns="0" rtlCol="0" anchor="ctr"/>
          <a:lstStyle/>
          <a:p>
            <a:pPr algn="r" indent="0" marL="0">
              <a:buNone/>
            </a:pPr>
            <a:r>
              <a:rPr lang="en-US" sz="1050" b="1" spc="130" kern="0" dirty="0">
                <a:solidFill>
                  <a:srgbClr val="526574"/>
                </a:solidFill>
                <a:latin typeface="Avenir Next" pitchFamily="34" charset="0"/>
                <a:ea typeface="Avenir Next" pitchFamily="34" charset="-122"/>
                <a:cs typeface="Avenir Next" pitchFamily="34" charset="-120"/>
              </a:rPr>
              <a:t>APPENDIX / DILIGENCE MAP</a:t>
            </a:r>
            <a:endParaRPr lang="en-US" sz="1050" dirty="0"/>
          </a:p>
        </p:txBody>
      </p:sp>
      <p:sp>
        <p:nvSpPr>
          <p:cNvPr id="4" name="Text 2"/>
          <p:cNvSpPr/>
          <p:nvPr/>
        </p:nvSpPr>
        <p:spPr>
          <a:xfrm>
            <a:off x="566928" y="923544"/>
            <a:ext cx="11018520" cy="932688"/>
          </a:xfrm>
          <a:prstGeom prst="rect">
            <a:avLst/>
          </a:prstGeom>
          <a:noFill/>
          <a:ln/>
        </p:spPr>
        <p:txBody>
          <a:bodyPr wrap="square" lIns="0" tIns="0" rIns="0" bIns="0" rtlCol="0" anchor="t"/>
          <a:lstStyle/>
          <a:p>
            <a:pPr indent="0" marL="0">
              <a:buNone/>
            </a:pPr>
            <a:r>
              <a:rPr lang="en-US" sz="3600" b="1" dirty="0">
                <a:solidFill>
                  <a:srgbClr val="16354A"/>
                </a:solidFill>
                <a:latin typeface="Avenir Next" pitchFamily="34" charset="0"/>
                <a:ea typeface="Avenir Next" pitchFamily="34" charset="-122"/>
                <a:cs typeface="Avenir Next" pitchFamily="34" charset="-120"/>
              </a:rPr>
              <a:t>Evidence today. Hypotheses to validate.</a:t>
            </a:r>
            <a:endParaRPr lang="en-US" sz="3600" dirty="0"/>
          </a:p>
        </p:txBody>
      </p:sp>
      <p:sp>
        <p:nvSpPr>
          <p:cNvPr id="5" name="Text 3"/>
          <p:cNvSpPr/>
          <p:nvPr/>
        </p:nvSpPr>
        <p:spPr>
          <a:xfrm>
            <a:off x="594360" y="1920240"/>
            <a:ext cx="10789920" cy="512064"/>
          </a:xfrm>
          <a:prstGeom prst="rect">
            <a:avLst/>
          </a:prstGeom>
          <a:noFill/>
          <a:ln/>
        </p:spPr>
        <p:txBody>
          <a:bodyPr wrap="square" lIns="0" tIns="0" rIns="0" bIns="0" rtlCol="0" anchor="ctr"/>
          <a:lstStyle/>
          <a:p>
            <a:pPr indent="0" marL="0">
              <a:buNone/>
            </a:pPr>
            <a:r>
              <a:rPr lang="en-US" sz="1550" dirty="0">
                <a:solidFill>
                  <a:srgbClr val="526574"/>
                </a:solidFill>
                <a:latin typeface="Avenir Next" pitchFamily="34" charset="0"/>
                <a:ea typeface="Avenir Next" pitchFamily="34" charset="-122"/>
                <a:cs typeface="Avenir Next" pitchFamily="34" charset="-120"/>
              </a:rPr>
              <a:t>A clean boundary between a working case study and an investable operating business.</a:t>
            </a:r>
            <a:endParaRPr lang="en-US" sz="1550" dirty="0"/>
          </a:p>
        </p:txBody>
      </p:sp>
      <p:sp>
        <p:nvSpPr>
          <p:cNvPr id="6" name="Text 4"/>
          <p:cNvSpPr/>
          <p:nvPr/>
        </p:nvSpPr>
        <p:spPr>
          <a:xfrm>
            <a:off x="585216" y="6382512"/>
            <a:ext cx="10469880" cy="246888"/>
          </a:xfrm>
          <a:prstGeom prst="rect">
            <a:avLst/>
          </a:prstGeom>
          <a:noFill/>
          <a:ln/>
        </p:spPr>
        <p:txBody>
          <a:bodyPr wrap="square" lIns="0" tIns="0" rIns="0" bIns="0" rtlCol="0" anchor="ctr"/>
          <a:lstStyle/>
          <a:p>
            <a:pPr indent="0" marL="0">
              <a:buNone/>
            </a:pPr>
            <a:r>
              <a:rPr lang="en-US" sz="1100" dirty="0">
                <a:solidFill>
                  <a:srgbClr val="526574"/>
                </a:solidFill>
                <a:latin typeface="Avenir Next" pitchFamily="34" charset="0"/>
                <a:ea typeface="Avenir Next" pitchFamily="34" charset="-122"/>
                <a:cs typeface="Avenir Next" pitchFamily="34" charset="-120"/>
              </a:rPr>
              <a:t>Investor discussion  |  Prototype concept  |  27 October 2026</a:t>
            </a:r>
            <a:endParaRPr lang="en-US" sz="1100" dirty="0"/>
          </a:p>
        </p:txBody>
      </p:sp>
      <p:sp>
        <p:nvSpPr>
          <p:cNvPr id="7" name="Text 5"/>
          <p:cNvSpPr/>
          <p:nvPr/>
        </p:nvSpPr>
        <p:spPr>
          <a:xfrm>
            <a:off x="11064240" y="6382512"/>
            <a:ext cx="530352" cy="228600"/>
          </a:xfrm>
          <a:prstGeom prst="rect">
            <a:avLst/>
          </a:prstGeom>
          <a:noFill/>
          <a:ln/>
        </p:spPr>
        <p:txBody>
          <a:bodyPr wrap="square" lIns="0" tIns="0" rIns="0" bIns="0" rtlCol="0" anchor="ctr"/>
          <a:lstStyle/>
          <a:p>
            <a:pPr algn="r" indent="0" marL="0">
              <a:buNone/>
            </a:pPr>
            <a:r>
              <a:rPr lang="en-US" sz="1100" b="1" dirty="0">
                <a:solidFill>
                  <a:srgbClr val="007F78"/>
                </a:solidFill>
                <a:latin typeface="Avenir Next" pitchFamily="34" charset="0"/>
                <a:ea typeface="Avenir Next" pitchFamily="34" charset="-122"/>
                <a:cs typeface="Avenir Next" pitchFamily="34" charset="-120"/>
              </a:rPr>
              <a:t>14</a:t>
            </a:r>
            <a:endParaRPr lang="en-US" sz="1100" dirty="0"/>
          </a:p>
        </p:txBody>
      </p:sp>
      <p:sp>
        <p:nvSpPr>
          <p:cNvPr id="8" name="Shape 6"/>
          <p:cNvSpPr/>
          <p:nvPr/>
        </p:nvSpPr>
        <p:spPr>
          <a:xfrm>
            <a:off x="594360" y="2734056"/>
            <a:ext cx="11009376" cy="521208"/>
          </a:xfrm>
          <a:prstGeom prst="roundRect">
            <a:avLst>
              <a:gd name="adj" fmla="val 21053"/>
            </a:avLst>
          </a:prstGeom>
          <a:solidFill>
            <a:srgbClr val="FFFFFF"/>
          </a:solidFill>
          <a:ln w="12700">
            <a:solidFill>
              <a:srgbClr val="FFFFFF"/>
            </a:solidFill>
            <a:prstDash val="solid"/>
          </a:ln>
        </p:spPr>
      </p:sp>
      <p:sp>
        <p:nvSpPr>
          <p:cNvPr id="9" name="Text 7"/>
          <p:cNvSpPr/>
          <p:nvPr/>
        </p:nvSpPr>
        <p:spPr>
          <a:xfrm>
            <a:off x="786384" y="2852928"/>
            <a:ext cx="1618488" cy="246888"/>
          </a:xfrm>
          <a:prstGeom prst="rect">
            <a:avLst/>
          </a:prstGeom>
          <a:noFill/>
          <a:ln/>
        </p:spPr>
        <p:txBody>
          <a:bodyPr wrap="square" lIns="0" tIns="0" rIns="0" bIns="0" rtlCol="0" anchor="ctr"/>
          <a:lstStyle/>
          <a:p>
            <a:pPr indent="0" marL="0">
              <a:buNone/>
            </a:pPr>
            <a:r>
              <a:rPr lang="en-US" sz="1100" b="1" dirty="0">
                <a:solidFill>
                  <a:srgbClr val="007F78"/>
                </a:solidFill>
                <a:latin typeface="Avenir Next" pitchFamily="34" charset="0"/>
                <a:ea typeface="Avenir Next" pitchFamily="34" charset="-122"/>
                <a:cs typeface="Avenir Next" pitchFamily="34" charset="-120"/>
              </a:rPr>
              <a:t>PRODUCT</a:t>
            </a:r>
            <a:endParaRPr lang="en-US" sz="1100" dirty="0"/>
          </a:p>
        </p:txBody>
      </p:sp>
      <p:sp>
        <p:nvSpPr>
          <p:cNvPr id="10" name="Text 8"/>
          <p:cNvSpPr/>
          <p:nvPr/>
        </p:nvSpPr>
        <p:spPr>
          <a:xfrm>
            <a:off x="2468880" y="2843784"/>
            <a:ext cx="5166360" cy="274320"/>
          </a:xfrm>
          <a:prstGeom prst="rect">
            <a:avLst/>
          </a:prstGeom>
          <a:noFill/>
          <a:ln/>
        </p:spPr>
        <p:txBody>
          <a:bodyPr wrap="square" lIns="0" tIns="0" rIns="0" bIns="0" rtlCol="0" anchor="ctr"/>
          <a:lstStyle/>
          <a:p>
            <a:pPr indent="0" marL="0">
              <a:buNone/>
            </a:pPr>
            <a:r>
              <a:rPr lang="en-US" sz="1310" dirty="0">
                <a:solidFill>
                  <a:srgbClr val="16354A"/>
                </a:solidFill>
                <a:latin typeface="Avenir Next" pitchFamily="34" charset="0"/>
                <a:ea typeface="Avenir Next" pitchFamily="34" charset="-122"/>
                <a:cs typeface="Avenir Next" pitchFamily="34" charset="-120"/>
              </a:rPr>
              <a:t>Seven tabs, source traceability, human review</a:t>
            </a:r>
            <a:endParaRPr lang="en-US" sz="1310" dirty="0"/>
          </a:p>
        </p:txBody>
      </p:sp>
      <p:sp>
        <p:nvSpPr>
          <p:cNvPr id="11" name="Text 9"/>
          <p:cNvSpPr/>
          <p:nvPr/>
        </p:nvSpPr>
        <p:spPr>
          <a:xfrm>
            <a:off x="8019288" y="2843784"/>
            <a:ext cx="3337560" cy="274320"/>
          </a:xfrm>
          <a:prstGeom prst="rect">
            <a:avLst/>
          </a:prstGeom>
          <a:noFill/>
          <a:ln/>
        </p:spPr>
        <p:txBody>
          <a:bodyPr wrap="square" lIns="0" tIns="0" rIns="0" bIns="0" rtlCol="0" anchor="ctr"/>
          <a:lstStyle/>
          <a:p>
            <a:pPr indent="0" marL="0">
              <a:buNone/>
            </a:pPr>
            <a:r>
              <a:rPr lang="en-US" sz="1200" dirty="0">
                <a:solidFill>
                  <a:srgbClr val="16354A"/>
                </a:solidFill>
                <a:latin typeface="Avenir Next" pitchFamily="34" charset="0"/>
                <a:ea typeface="Avenir Next" pitchFamily="34" charset="-122"/>
                <a:cs typeface="Avenir Next" pitchFamily="34" charset="-120"/>
              </a:rPr>
              <a:t>app.py; agent/; engine/</a:t>
            </a:r>
            <a:endParaRPr lang="en-US" sz="1200" dirty="0"/>
          </a:p>
        </p:txBody>
      </p:sp>
      <p:sp>
        <p:nvSpPr>
          <p:cNvPr id="12" name="Shape 10"/>
          <p:cNvSpPr/>
          <p:nvPr/>
        </p:nvSpPr>
        <p:spPr>
          <a:xfrm>
            <a:off x="594360" y="3364992"/>
            <a:ext cx="11009376" cy="521208"/>
          </a:xfrm>
          <a:prstGeom prst="roundRect">
            <a:avLst>
              <a:gd name="adj" fmla="val 21053"/>
            </a:avLst>
          </a:prstGeom>
          <a:solidFill>
            <a:srgbClr val="ECEFE9"/>
          </a:solidFill>
          <a:ln w="12700">
            <a:solidFill>
              <a:srgbClr val="ECEFE9"/>
            </a:solidFill>
            <a:prstDash val="solid"/>
          </a:ln>
        </p:spPr>
      </p:sp>
      <p:sp>
        <p:nvSpPr>
          <p:cNvPr id="13" name="Text 11"/>
          <p:cNvSpPr/>
          <p:nvPr/>
        </p:nvSpPr>
        <p:spPr>
          <a:xfrm>
            <a:off x="786384" y="3483864"/>
            <a:ext cx="1618488" cy="246888"/>
          </a:xfrm>
          <a:prstGeom prst="rect">
            <a:avLst/>
          </a:prstGeom>
          <a:noFill/>
          <a:ln/>
        </p:spPr>
        <p:txBody>
          <a:bodyPr wrap="square" lIns="0" tIns="0" rIns="0" bIns="0" rtlCol="0" anchor="ctr"/>
          <a:lstStyle/>
          <a:p>
            <a:pPr indent="0" marL="0">
              <a:buNone/>
            </a:pPr>
            <a:r>
              <a:rPr lang="en-US" sz="1100" b="1" dirty="0">
                <a:solidFill>
                  <a:srgbClr val="007F78"/>
                </a:solidFill>
                <a:latin typeface="Avenir Next" pitchFamily="34" charset="0"/>
                <a:ea typeface="Avenir Next" pitchFamily="34" charset="-122"/>
                <a:cs typeface="Avenir Next" pitchFamily="34" charset="-120"/>
              </a:rPr>
              <a:t>DATA</a:t>
            </a:r>
            <a:endParaRPr lang="en-US" sz="1100" dirty="0"/>
          </a:p>
        </p:txBody>
      </p:sp>
      <p:sp>
        <p:nvSpPr>
          <p:cNvPr id="14" name="Text 12"/>
          <p:cNvSpPr/>
          <p:nvPr/>
        </p:nvSpPr>
        <p:spPr>
          <a:xfrm>
            <a:off x="2468880" y="3474720"/>
            <a:ext cx="5166360" cy="274320"/>
          </a:xfrm>
          <a:prstGeom prst="rect">
            <a:avLst/>
          </a:prstGeom>
          <a:noFill/>
          <a:ln/>
        </p:spPr>
        <p:txBody>
          <a:bodyPr wrap="square" lIns="0" tIns="0" rIns="0" bIns="0" rtlCol="0" anchor="ctr"/>
          <a:lstStyle/>
          <a:p>
            <a:pPr indent="0" marL="0">
              <a:buNone/>
            </a:pPr>
            <a:r>
              <a:rPr lang="en-US" sz="1310" dirty="0">
                <a:solidFill>
                  <a:srgbClr val="16354A"/>
                </a:solidFill>
                <a:latin typeface="Avenir Next" pitchFamily="34" charset="0"/>
                <a:ea typeface="Avenir Next" pitchFamily="34" charset="-122"/>
                <a:cs typeface="Avenir Next" pitchFamily="34" charset="-120"/>
              </a:rPr>
              <a:t>20 SKUs, 3 locations, 5,000 available units; synthetic</a:t>
            </a:r>
            <a:endParaRPr lang="en-US" sz="1310" dirty="0"/>
          </a:p>
        </p:txBody>
      </p:sp>
      <p:sp>
        <p:nvSpPr>
          <p:cNvPr id="15" name="Text 13"/>
          <p:cNvSpPr/>
          <p:nvPr/>
        </p:nvSpPr>
        <p:spPr>
          <a:xfrm>
            <a:off x="8019288" y="3474720"/>
            <a:ext cx="3337560" cy="274320"/>
          </a:xfrm>
          <a:prstGeom prst="rect">
            <a:avLst/>
          </a:prstGeom>
          <a:noFill/>
          <a:ln/>
        </p:spPr>
        <p:txBody>
          <a:bodyPr wrap="square" lIns="0" tIns="0" rIns="0" bIns="0" rtlCol="0" anchor="ctr"/>
          <a:lstStyle/>
          <a:p>
            <a:pPr indent="0" marL="0">
              <a:buNone/>
            </a:pPr>
            <a:r>
              <a:rPr lang="en-US" sz="1200" dirty="0">
                <a:solidFill>
                  <a:srgbClr val="16354A"/>
                </a:solidFill>
                <a:latin typeface="Avenir Next" pitchFamily="34" charset="0"/>
                <a:ea typeface="Avenir Next" pitchFamily="34" charset="-122"/>
                <a:cs typeface="Avenir Next" pitchFamily="34" charset="-120"/>
              </a:rPr>
              <a:t>data/README.md; make_data.py</a:t>
            </a:r>
            <a:endParaRPr lang="en-US" sz="1200" dirty="0"/>
          </a:p>
        </p:txBody>
      </p:sp>
      <p:sp>
        <p:nvSpPr>
          <p:cNvPr id="16" name="Shape 14"/>
          <p:cNvSpPr/>
          <p:nvPr/>
        </p:nvSpPr>
        <p:spPr>
          <a:xfrm>
            <a:off x="594360" y="3995928"/>
            <a:ext cx="11009376" cy="521208"/>
          </a:xfrm>
          <a:prstGeom prst="roundRect">
            <a:avLst>
              <a:gd name="adj" fmla="val 21053"/>
            </a:avLst>
          </a:prstGeom>
          <a:solidFill>
            <a:srgbClr val="FFFFFF"/>
          </a:solidFill>
          <a:ln w="12700">
            <a:solidFill>
              <a:srgbClr val="FFFFFF"/>
            </a:solidFill>
            <a:prstDash val="solid"/>
          </a:ln>
        </p:spPr>
      </p:sp>
      <p:sp>
        <p:nvSpPr>
          <p:cNvPr id="17" name="Text 15"/>
          <p:cNvSpPr/>
          <p:nvPr/>
        </p:nvSpPr>
        <p:spPr>
          <a:xfrm>
            <a:off x="786384" y="4114800"/>
            <a:ext cx="1618488" cy="246888"/>
          </a:xfrm>
          <a:prstGeom prst="rect">
            <a:avLst/>
          </a:prstGeom>
          <a:noFill/>
          <a:ln/>
        </p:spPr>
        <p:txBody>
          <a:bodyPr wrap="square" lIns="0" tIns="0" rIns="0" bIns="0" rtlCol="0" anchor="ctr"/>
          <a:lstStyle/>
          <a:p>
            <a:pPr indent="0" marL="0">
              <a:buNone/>
            </a:pPr>
            <a:r>
              <a:rPr lang="en-US" sz="1100" b="1" dirty="0">
                <a:solidFill>
                  <a:srgbClr val="007F78"/>
                </a:solidFill>
                <a:latin typeface="Avenir Next" pitchFamily="34" charset="0"/>
                <a:ea typeface="Avenir Next" pitchFamily="34" charset="-122"/>
                <a:cs typeface="Avenir Next" pitchFamily="34" charset="-120"/>
              </a:rPr>
              <a:t>VALUE</a:t>
            </a:r>
            <a:endParaRPr lang="en-US" sz="1100" dirty="0"/>
          </a:p>
        </p:txBody>
      </p:sp>
      <p:sp>
        <p:nvSpPr>
          <p:cNvPr id="18" name="Text 16"/>
          <p:cNvSpPr/>
          <p:nvPr/>
        </p:nvSpPr>
        <p:spPr>
          <a:xfrm>
            <a:off x="2468880" y="4105656"/>
            <a:ext cx="5166360" cy="274320"/>
          </a:xfrm>
          <a:prstGeom prst="rect">
            <a:avLst/>
          </a:prstGeom>
          <a:noFill/>
          <a:ln/>
        </p:spPr>
        <p:txBody>
          <a:bodyPr wrap="square" lIns="0" tIns="0" rIns="0" bIns="0" rtlCol="0" anchor="ctr"/>
          <a:lstStyle/>
          <a:p>
            <a:pPr indent="0" marL="0">
              <a:buNone/>
            </a:pPr>
            <a:r>
              <a:rPr lang="en-US" sz="1310" dirty="0">
                <a:solidFill>
                  <a:srgbClr val="16354A"/>
                </a:solidFill>
                <a:latin typeface="Avenir Next" pitchFamily="34" charset="0"/>
                <a:ea typeface="Avenir Next" pitchFamily="34" charset="-122"/>
                <a:cs typeface="Avenir Next" pitchFamily="34" charset="-120"/>
              </a:rPr>
              <a:t>Modeled before/after impact; no realised savings</a:t>
            </a:r>
            <a:endParaRPr lang="en-US" sz="1310" dirty="0"/>
          </a:p>
        </p:txBody>
      </p:sp>
      <p:sp>
        <p:nvSpPr>
          <p:cNvPr id="19" name="Text 17"/>
          <p:cNvSpPr/>
          <p:nvPr/>
        </p:nvSpPr>
        <p:spPr>
          <a:xfrm>
            <a:off x="8019288" y="4105656"/>
            <a:ext cx="3337560" cy="274320"/>
          </a:xfrm>
          <a:prstGeom prst="rect">
            <a:avLst/>
          </a:prstGeom>
          <a:noFill/>
          <a:ln/>
        </p:spPr>
        <p:txBody>
          <a:bodyPr wrap="square" lIns="0" tIns="0" rIns="0" bIns="0" rtlCol="0" anchor="ctr"/>
          <a:lstStyle/>
          <a:p>
            <a:pPr indent="0" marL="0">
              <a:buNone/>
            </a:pPr>
            <a:r>
              <a:rPr lang="en-US" sz="1200" dirty="0">
                <a:solidFill>
                  <a:srgbClr val="16354A"/>
                </a:solidFill>
                <a:latin typeface="Avenir Next" pitchFamily="34" charset="0"/>
                <a:ea typeface="Avenir Next" pitchFamily="34" charset="-122"/>
                <a:cs typeface="Avenir Next" pitchFamily="34" charset="-120"/>
              </a:rPr>
              <a:t>eval_report.md; simulation.py</a:t>
            </a:r>
            <a:endParaRPr lang="en-US" sz="1200" dirty="0"/>
          </a:p>
        </p:txBody>
      </p:sp>
      <p:sp>
        <p:nvSpPr>
          <p:cNvPr id="20" name="Shape 18"/>
          <p:cNvSpPr/>
          <p:nvPr/>
        </p:nvSpPr>
        <p:spPr>
          <a:xfrm>
            <a:off x="594360" y="4626864"/>
            <a:ext cx="11009376" cy="521208"/>
          </a:xfrm>
          <a:prstGeom prst="roundRect">
            <a:avLst>
              <a:gd name="adj" fmla="val 21053"/>
            </a:avLst>
          </a:prstGeom>
          <a:solidFill>
            <a:srgbClr val="ECEFE9"/>
          </a:solidFill>
          <a:ln w="12700">
            <a:solidFill>
              <a:srgbClr val="ECEFE9"/>
            </a:solidFill>
            <a:prstDash val="solid"/>
          </a:ln>
        </p:spPr>
      </p:sp>
      <p:sp>
        <p:nvSpPr>
          <p:cNvPr id="21" name="Text 19"/>
          <p:cNvSpPr/>
          <p:nvPr/>
        </p:nvSpPr>
        <p:spPr>
          <a:xfrm>
            <a:off x="786384" y="4745736"/>
            <a:ext cx="1618488" cy="246888"/>
          </a:xfrm>
          <a:prstGeom prst="rect">
            <a:avLst/>
          </a:prstGeom>
          <a:noFill/>
          <a:ln/>
        </p:spPr>
        <p:txBody>
          <a:bodyPr wrap="square" lIns="0" tIns="0" rIns="0" bIns="0" rtlCol="0" anchor="ctr"/>
          <a:lstStyle/>
          <a:p>
            <a:pPr indent="0" marL="0">
              <a:buNone/>
            </a:pPr>
            <a:r>
              <a:rPr lang="en-US" sz="1100" b="1" dirty="0">
                <a:solidFill>
                  <a:srgbClr val="007F78"/>
                </a:solidFill>
                <a:latin typeface="Avenir Next" pitchFamily="34" charset="0"/>
                <a:ea typeface="Avenir Next" pitchFamily="34" charset="-122"/>
                <a:cs typeface="Avenir Next" pitchFamily="34" charset="-120"/>
              </a:rPr>
              <a:t>COMMERCIAL</a:t>
            </a:r>
            <a:endParaRPr lang="en-US" sz="1100" dirty="0"/>
          </a:p>
        </p:txBody>
      </p:sp>
      <p:sp>
        <p:nvSpPr>
          <p:cNvPr id="22" name="Text 20"/>
          <p:cNvSpPr/>
          <p:nvPr/>
        </p:nvSpPr>
        <p:spPr>
          <a:xfrm>
            <a:off x="2468880" y="4736592"/>
            <a:ext cx="5166360" cy="274320"/>
          </a:xfrm>
          <a:prstGeom prst="rect">
            <a:avLst/>
          </a:prstGeom>
          <a:noFill/>
          <a:ln/>
        </p:spPr>
        <p:txBody>
          <a:bodyPr wrap="square" lIns="0" tIns="0" rIns="0" bIns="0" rtlCol="0" anchor="ctr"/>
          <a:lstStyle/>
          <a:p>
            <a:pPr indent="0" marL="0">
              <a:buNone/>
            </a:pPr>
            <a:r>
              <a:rPr lang="en-US" sz="1310" dirty="0">
                <a:solidFill>
                  <a:srgbClr val="16354A"/>
                </a:solidFill>
                <a:latin typeface="Avenir Next" pitchFamily="34" charset="0"/>
                <a:ea typeface="Avenir Next" pitchFamily="34" charset="-122"/>
                <a:cs typeface="Avenir Next" pitchFamily="34" charset="-120"/>
              </a:rPr>
              <a:t>Pricing, customers, market size and moat unvalidated</a:t>
            </a:r>
            <a:endParaRPr lang="en-US" sz="1310" dirty="0"/>
          </a:p>
        </p:txBody>
      </p:sp>
      <p:sp>
        <p:nvSpPr>
          <p:cNvPr id="23" name="Text 21"/>
          <p:cNvSpPr/>
          <p:nvPr/>
        </p:nvSpPr>
        <p:spPr>
          <a:xfrm>
            <a:off x="8019288" y="4736592"/>
            <a:ext cx="3337560" cy="274320"/>
          </a:xfrm>
          <a:prstGeom prst="rect">
            <a:avLst/>
          </a:prstGeom>
          <a:noFill/>
          <a:ln/>
        </p:spPr>
        <p:txBody>
          <a:bodyPr wrap="square" lIns="0" tIns="0" rIns="0" bIns="0" rtlCol="0" anchor="ctr"/>
          <a:lstStyle/>
          <a:p>
            <a:pPr indent="0" marL="0">
              <a:buNone/>
            </a:pPr>
            <a:r>
              <a:rPr lang="en-US" sz="1200" dirty="0">
                <a:solidFill>
                  <a:srgbClr val="16354A"/>
                </a:solidFill>
                <a:latin typeface="Avenir Next" pitchFamily="34" charset="0"/>
                <a:ea typeface="Avenir Next" pitchFamily="34" charset="-122"/>
                <a:cs typeface="Avenir Next" pitchFamily="34" charset="-120"/>
              </a:rPr>
              <a:t>Proposed strategy in this deck</a:t>
            </a:r>
            <a:endParaRPr lang="en-US" sz="1200" dirty="0"/>
          </a:p>
        </p:txBody>
      </p:sp>
      <p:sp>
        <p:nvSpPr>
          <p:cNvPr id="24" name="Shape 22"/>
          <p:cNvSpPr/>
          <p:nvPr/>
        </p:nvSpPr>
        <p:spPr>
          <a:xfrm>
            <a:off x="594360" y="5257800"/>
            <a:ext cx="11009376" cy="521208"/>
          </a:xfrm>
          <a:prstGeom prst="roundRect">
            <a:avLst>
              <a:gd name="adj" fmla="val 21053"/>
            </a:avLst>
          </a:prstGeom>
          <a:solidFill>
            <a:srgbClr val="FFFFFF"/>
          </a:solidFill>
          <a:ln w="12700">
            <a:solidFill>
              <a:srgbClr val="FFFFFF"/>
            </a:solidFill>
            <a:prstDash val="solid"/>
          </a:ln>
        </p:spPr>
      </p:sp>
      <p:sp>
        <p:nvSpPr>
          <p:cNvPr id="25" name="Text 23"/>
          <p:cNvSpPr/>
          <p:nvPr/>
        </p:nvSpPr>
        <p:spPr>
          <a:xfrm>
            <a:off x="786384" y="5376672"/>
            <a:ext cx="1618488" cy="246888"/>
          </a:xfrm>
          <a:prstGeom prst="rect">
            <a:avLst/>
          </a:prstGeom>
          <a:noFill/>
          <a:ln/>
        </p:spPr>
        <p:txBody>
          <a:bodyPr wrap="square" lIns="0" tIns="0" rIns="0" bIns="0" rtlCol="0" anchor="ctr"/>
          <a:lstStyle/>
          <a:p>
            <a:pPr indent="0" marL="0">
              <a:buNone/>
            </a:pPr>
            <a:r>
              <a:rPr lang="en-US" sz="1100" b="1" dirty="0">
                <a:solidFill>
                  <a:srgbClr val="007F78"/>
                </a:solidFill>
                <a:latin typeface="Avenir Next" pitchFamily="34" charset="0"/>
                <a:ea typeface="Avenir Next" pitchFamily="34" charset="-122"/>
                <a:cs typeface="Avenir Next" pitchFamily="34" charset="-120"/>
              </a:rPr>
              <a:t>FUNDRAISING</a:t>
            </a:r>
            <a:endParaRPr lang="en-US" sz="1100" dirty="0"/>
          </a:p>
        </p:txBody>
      </p:sp>
      <p:sp>
        <p:nvSpPr>
          <p:cNvPr id="26" name="Text 24"/>
          <p:cNvSpPr/>
          <p:nvPr/>
        </p:nvSpPr>
        <p:spPr>
          <a:xfrm>
            <a:off x="2468880" y="5367528"/>
            <a:ext cx="5166360" cy="274320"/>
          </a:xfrm>
          <a:prstGeom prst="rect">
            <a:avLst/>
          </a:prstGeom>
          <a:noFill/>
          <a:ln/>
        </p:spPr>
        <p:txBody>
          <a:bodyPr wrap="square" lIns="0" tIns="0" rIns="0" bIns="0" rtlCol="0" anchor="ctr"/>
          <a:lstStyle/>
          <a:p>
            <a:pPr indent="0" marL="0">
              <a:buNone/>
            </a:pPr>
            <a:r>
              <a:rPr lang="en-US" sz="1310" dirty="0">
                <a:solidFill>
                  <a:srgbClr val="16354A"/>
                </a:solidFill>
                <a:latin typeface="Avenir Next" pitchFamily="34" charset="0"/>
                <a:ea typeface="Avenir Next" pitchFamily="34" charset="-122"/>
                <a:cs typeface="Avenir Next" pitchFamily="34" charset="-120"/>
              </a:rPr>
              <a:t>Team credentials, raise size and terms not provided</a:t>
            </a:r>
            <a:endParaRPr lang="en-US" sz="1310" dirty="0"/>
          </a:p>
        </p:txBody>
      </p:sp>
      <p:sp>
        <p:nvSpPr>
          <p:cNvPr id="27" name="Text 25"/>
          <p:cNvSpPr/>
          <p:nvPr/>
        </p:nvSpPr>
        <p:spPr>
          <a:xfrm>
            <a:off x="8019288" y="5367528"/>
            <a:ext cx="3337560" cy="274320"/>
          </a:xfrm>
          <a:prstGeom prst="rect">
            <a:avLst/>
          </a:prstGeom>
          <a:noFill/>
          <a:ln/>
        </p:spPr>
        <p:txBody>
          <a:bodyPr wrap="square" lIns="0" tIns="0" rIns="0" bIns="0" rtlCol="0" anchor="ctr"/>
          <a:lstStyle/>
          <a:p>
            <a:pPr indent="0" marL="0">
              <a:buNone/>
            </a:pPr>
            <a:r>
              <a:rPr lang="en-US" sz="1200" dirty="0">
                <a:solidFill>
                  <a:srgbClr val="16354A"/>
                </a:solidFill>
                <a:latin typeface="Avenir Next" pitchFamily="34" charset="0"/>
                <a:ea typeface="Avenir Next" pitchFamily="34" charset="-122"/>
                <a:cs typeface="Avenir Next" pitchFamily="34" charset="-120"/>
              </a:rPr>
              <a:t>Founders to define before raising</a:t>
            </a:r>
            <a:endParaRPr lang="en-US" sz="1200" dirty="0"/>
          </a:p>
        </p:txBody>
      </p:sp>
      <p:sp>
        <p:nvSpPr>
          <p:cNvPr id="28" name="Text 26"/>
          <p:cNvSpPr/>
          <p:nvPr/>
        </p:nvSpPr>
        <p:spPr>
          <a:xfrm>
            <a:off x="658368" y="6016752"/>
            <a:ext cx="10780776" cy="237744"/>
          </a:xfrm>
          <a:prstGeom prst="rect">
            <a:avLst/>
          </a:prstGeom>
          <a:noFill/>
          <a:ln/>
        </p:spPr>
        <p:txBody>
          <a:bodyPr wrap="square" lIns="0" tIns="0" rIns="0" bIns="0" rtlCol="0" anchor="ctr"/>
          <a:lstStyle/>
          <a:p>
            <a:pPr indent="0" marL="0">
              <a:buNone/>
            </a:pPr>
            <a:r>
              <a:rPr lang="en-US" sz="1350" b="1" dirty="0">
                <a:solidFill>
                  <a:srgbClr val="007F78"/>
                </a:solidFill>
                <a:latin typeface="Avenir Next" pitchFamily="34" charset="0"/>
                <a:ea typeface="Avenir Next" pitchFamily="34" charset="-122"/>
                <a:cs typeface="Avenir Next" pitchFamily="34" charset="-120"/>
              </a:rPr>
              <a:t>Use the final two slides for Q&amp;A. The main pitch is slides 1–12; detailed sources are in speaker notes.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venir Nex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GulfTrade — prototype venture concept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GulfTrade — Make existing stock work harder</dc:title>
  <dc:subject>Investor discussion: evidence-backed inventory planning prototype</dc:subject>
  <dc:creator>GulfTrade project</dc:creator>
  <cp:lastModifiedBy>GulfTrade project</cp:lastModifiedBy>
  <cp:revision>1</cp:revision>
  <dcterms:created xsi:type="dcterms:W3CDTF">2026-10-27T12:01:05Z</dcterms:created>
  <dcterms:modified xsi:type="dcterms:W3CDTF">2026-10-27T12:01:05Z</dcterms:modified>
</cp:coreProperties>
</file>